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4"/>
  </p:notesMasterIdLst>
  <p:sldIdLst>
    <p:sldId id="256" r:id="rId3"/>
    <p:sldId id="257" r:id="rId4"/>
    <p:sldId id="267" r:id="rId5"/>
    <p:sldId id="258" r:id="rId6"/>
    <p:sldId id="259" r:id="rId7"/>
    <p:sldId id="260" r:id="rId8"/>
    <p:sldId id="261" r:id="rId9"/>
    <p:sldId id="262" r:id="rId10"/>
    <p:sldId id="263" r:id="rId11"/>
    <p:sldId id="264" r:id="rId12"/>
    <p:sldId id="265"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2" d="100"/>
          <a:sy n="102" d="100"/>
        </p:scale>
        <p:origin x="364"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27.03.2026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What if the strange 'magic' of the quantum world, like objects passing through walls, could happen right here in our macroscopic world? This year's Nobel Prize in Physics has made this seemingly impossible concept a reality.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Today, we will explore the groundbreaking discovery of the 2025 Nobel laureates, which bridges the microscopic and macroscopic quantum realms. We'll discuss its core concept, current applications, future implications, and the ethical challenges we must face, before concluding with a call to action.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325EA-4150-D750-756D-41F695AF8456}"/>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A2137D8A-0418-7141-AC16-8C9ED844967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0C5E2F78-DD42-49B7-8746-6CD73F7D8504}"/>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64E079A5-B014-1909-1935-892C1F6EADF0}"/>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A4C05CD1-DE78-809A-4CDF-1A30A48862CB}"/>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John Clarke, Michel Devoret, and John Martinis were awarded for demonstrating quantum tunneling and energy quantization in a macroscopic electrical circuit. They showed that a large system, like a circuit you can hold, can behave like a single quantum particle, 'tunneling' through barriers and absorbing energy in discrete steps, just like electrons in an atom.</a:t>
            </a:r>
          </a:p>
        </p:txBody>
      </p:sp>
      <p:sp>
        <p:nvSpPr>
          <p:cNvPr id="6" name="Footer Placeholder 5">
            <a:extLst>
              <a:ext uri="{FF2B5EF4-FFF2-40B4-BE49-F238E27FC236}">
                <a16:creationId xmlns:a16="http://schemas.microsoft.com/office/drawing/2014/main" id="{34EBF188-86A7-D994-AE87-D3F6B2C0040F}"/>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A5B51863-6C8D-865B-B254-6CB9FA833195}"/>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2819733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John Clarke, Michel Devoret, and John Martinis were awarded for demonstrating quantum tunneling and energy quantization in a macroscopic electrical circuit. They showed that a large system, like a circuit you can hold, can behave like a single quantum particle, 'tunneling' through barriers and absorbing energy in discrete steps, just like electrons in an atom.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This discovery is the foundation for next-generation quantum technologies. It enables the development of powerful quantum computers that can solve problems classical computers cannot, ultra-secure quantum communication that detects any eavesdropping, and ultra-precise quantum sensors for medicine and exploration.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While promising, quantum technology also brings challenges. We must guard against over-hyping and ensure research remains pure. There are also risks to data security, as quantum computers could break current encryption, and we need to ensure the benefits of this technology are shared equitably across society.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 journey to the stars begins with every step of exploration. This Nobel Prize-winning discovery is a giant leap.</a:t>
            </a:r>
          </a:p>
          <a:p>
            <a:pPr indent="0" algn="l">
              <a:lnSpc>
                <a:spcPct val="100000"/>
              </a:lnSpc>
            </a:pPr>
            <a:r>
              <a:rPr lang="en-US" sz="1400" b="0" i="0" u="none" strike="noStrike">
                <a:solidFill>
                  <a:srgbClr val="000000"/>
                </a:solidFill>
              </a:rPr>
              <a:t>To harness its potential, we must take three key actions: invest in basic research to fuel innovation, establish ethical guidelines to ensure we use this power wisely, and educate the public to foster understanding.</a:t>
            </a:r>
          </a:p>
          <a:p>
            <a:pPr indent="0" algn="l">
              <a:lnSpc>
                <a:spcPct val="100000"/>
              </a:lnSpc>
            </a:pPr>
            <a:r>
              <a:rPr lang="en-US" sz="1400" b="0" i="0" u="none" strike="noStrike">
                <a:solidFill>
                  <a:srgbClr val="000000"/>
                </a:solidFill>
              </a:rPr>
              <a:t>Together, we can ensure quantum technology benefits all of humanity.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To understand their discovery, let's take a closer look at quantum tunneling. Imagine a ball rolling towards a hill. In our everyday, classical world, if the ball doesn't have enough speed, it can't get over the hill. But in the quantum world, particles like electrons have a strange property: they can sometimes pass through the hill, even without the energy to climb it. This is quantum tunneling. What the Nobel laureates did was create a large electrical circuit that showed this exact behavior, proving that the weird rules of quantum physics apply to things we can actually see and hold.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Let's look at a concrete example of how quantum computing is changing the world: drug discovery. Developing a new medicine involves figuring out how different molecules interact with each other, which is an incredibly complex problem for classical computers. It can take years to simulate just one potential drug. But quantum computers excel at these kinds of complex simulations. They can model molecular interactions much faster, potentially cutting the time to discover life-saving drugs from years down to just months. This is not just about faster computers; it's about accelerating medical breakthroughs that could save millions of lives.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Beyond the immediate challenges, we must also consider deeper ethical implications. The race to develop quantum technology is already becoming a geopolitical competition, which could lead to a new era of tension. Additionally, just as AI and automation are changing the job market, quantum computing could automate even more complex tasks, leading to significant job displacement. Finally, when combined with AI, quantum technology could enable the creation of hyper-realistic fake videos and audio, making it harder than ever to distinguish truth from fiction, and posing a serious threat to our societies.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Thank you for your attention. I'm happy to take any questions.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jpeg"/><Relationship Id="rId7" Type="http://schemas.openxmlformats.org/officeDocument/2006/relationships/image" Target="../media/image4.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3.png"/><Relationship Id="rId5" Type="http://schemas.openxmlformats.org/officeDocument/2006/relationships/image" Target="../media/image12.svg"/><Relationship Id="rId10" Type="http://schemas.openxmlformats.org/officeDocument/2006/relationships/image" Target="../media/image15.jpeg"/><Relationship Id="rId4" Type="http://schemas.openxmlformats.org/officeDocument/2006/relationships/image" Target="../media/image11.png"/><Relationship Id="rId9" Type="http://schemas.openxmlformats.org/officeDocument/2006/relationships/image" Target="../media/image14.sv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7.jpe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6.jpeg"/><Relationship Id="rId5" Type="http://schemas.openxmlformats.org/officeDocument/2006/relationships/image" Target="../media/image4.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21.sv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20.png"/><Relationship Id="rId5" Type="http://schemas.openxmlformats.org/officeDocument/2006/relationships/image" Target="../media/image19.svg"/><Relationship Id="rId10" Type="http://schemas.openxmlformats.org/officeDocument/2006/relationships/image" Target="../media/image22.jpeg"/><Relationship Id="rId4" Type="http://schemas.openxmlformats.org/officeDocument/2006/relationships/image" Target="../media/image18.png"/><Relationship Id="rId9" Type="http://schemas.openxmlformats.org/officeDocument/2006/relationships/image" Target="../media/image8.svg"/></Relationships>
</file>

<file path=ppt/slides/_rels/slide7.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jpeg"/><Relationship Id="rId7" Type="http://schemas.openxmlformats.org/officeDocument/2006/relationships/image" Target="../media/image8.sv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24.svg"/><Relationship Id="rId10" Type="http://schemas.openxmlformats.org/officeDocument/2006/relationships/image" Target="../media/image27.jpeg"/><Relationship Id="rId4" Type="http://schemas.openxmlformats.org/officeDocument/2006/relationships/image" Target="../media/image23.png"/><Relationship Id="rId9" Type="http://schemas.openxmlformats.org/officeDocument/2006/relationships/image" Target="../media/image26.svg"/></Relationships>
</file>

<file path=ppt/slides/_rels/slide8.xml.rels><?xml version="1.0" encoding="UTF-8" standalone="yes"?>
<Relationships xmlns="http://schemas.openxmlformats.org/package/2006/relationships"><Relationship Id="rId8" Type="http://schemas.openxmlformats.org/officeDocument/2006/relationships/image" Target="../media/image22.jpeg"/><Relationship Id="rId3" Type="http://schemas.openxmlformats.org/officeDocument/2006/relationships/image" Target="../media/image2.jpeg"/><Relationship Id="rId7" Type="http://schemas.openxmlformats.org/officeDocument/2006/relationships/image" Target="../media/image31.sv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30.png"/><Relationship Id="rId5" Type="http://schemas.openxmlformats.org/officeDocument/2006/relationships/image" Target="../media/image29.svg"/><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jpeg"/><Relationship Id="rId7" Type="http://schemas.openxmlformats.org/officeDocument/2006/relationships/image" Target="../media/image33.sv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32.png"/><Relationship Id="rId5" Type="http://schemas.openxmlformats.org/officeDocument/2006/relationships/image" Target="../media/image4.svg"/><Relationship Id="rId10" Type="http://schemas.openxmlformats.org/officeDocument/2006/relationships/image" Target="../media/image36.jpeg"/><Relationship Id="rId4" Type="http://schemas.openxmlformats.org/officeDocument/2006/relationships/image" Target="../media/image3.png"/><Relationship Id="rId9" Type="http://schemas.openxmlformats.org/officeDocument/2006/relationships/image" Target="../media/image35.svg"/></Relationships>
</file>

<file path=ppt/slides/_rels/slide10.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2.jpeg"/><Relationship Id="rId7" Type="http://schemas.openxmlformats.org/officeDocument/2006/relationships/image" Target="../media/image40.sv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39.png"/><Relationship Id="rId5" Type="http://schemas.openxmlformats.org/officeDocument/2006/relationships/image" Target="../media/image38.svg"/><Relationship Id="rId4" Type="http://schemas.openxmlformats.org/officeDocument/2006/relationships/image" Target="../media/image37.png"/><Relationship Id="rId9" Type="http://schemas.openxmlformats.org/officeDocument/2006/relationships/image" Target="../media/image42.sv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45.png"/><Relationship Id="rId5" Type="http://schemas.openxmlformats.org/officeDocument/2006/relationships/image" Target="../media/image44.svg"/><Relationship Id="rId4"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B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D1B2A">
              <a:alpha val="85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4" name="AutoShape 4"/>
          <p:cNvSpPr/>
          <p:nvPr/>
        </p:nvSpPr>
        <p:spPr>
          <a:xfrm>
            <a:off x="508000" y="1905000"/>
            <a:ext cx="11176000" cy="152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dirty="0">
                <a:solidFill>
                  <a:srgbClr val="FFFFFF"/>
                </a:solidFill>
                <a:latin typeface="Noto Sans SC"/>
                <a:ea typeface="Noto Sans SC"/>
                <a:cs typeface="Noto Sans SC"/>
                <a:sym typeface="Noto Sans SC"/>
              </a:rPr>
              <a:t>Recent Nobel Prize Winner: Nobel Prize in Physics 2025</a:t>
            </a:r>
            <a:endParaRPr lang="en-US" sz="1100" dirty="0"/>
          </a:p>
        </p:txBody>
      </p:sp>
      <p:sp>
        <p:nvSpPr>
          <p:cNvPr id="5" name="AutoShape 5"/>
          <p:cNvSpPr/>
          <p:nvPr/>
        </p:nvSpPr>
        <p:spPr>
          <a:xfrm>
            <a:off x="5588000" y="3556000"/>
            <a:ext cx="1016000" cy="50800"/>
          </a:xfrm>
          <a:prstGeom prst="roundRect">
            <a:avLst>
              <a:gd name="adj" fmla="val 0"/>
            </a:avLst>
          </a:prstGeom>
          <a:solidFill>
            <a:srgbClr val="1E90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508000" y="3810000"/>
            <a:ext cx="11176000" cy="762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2000" b="0" i="0" u="none" strike="noStrike" dirty="0">
                <a:solidFill>
                  <a:srgbClr val="1E90FF"/>
                </a:solidFill>
                <a:latin typeface="Noto Sans SC"/>
                <a:ea typeface="Noto Sans SC"/>
                <a:cs typeface="Noto Sans SC"/>
                <a:sym typeface="Noto Sans SC"/>
              </a:rPr>
              <a:t>The 2025 Nobel Prize in Physics Unlocks a New Reality</a:t>
            </a:r>
            <a:endParaRPr lang="en-US" sz="1100" dirty="0"/>
          </a:p>
        </p:txBody>
      </p:sp>
      <p:sp>
        <p:nvSpPr>
          <p:cNvPr id="7" name="AutoShape 7"/>
          <p:cNvSpPr/>
          <p:nvPr/>
        </p:nvSpPr>
        <p:spPr>
          <a:xfrm>
            <a:off x="0" y="6350000"/>
            <a:ext cx="12192000" cy="25400"/>
          </a:xfrm>
          <a:prstGeom prst="roundRect">
            <a:avLst>
              <a:gd name="adj" fmla="val 0"/>
            </a:avLst>
          </a:prstGeom>
          <a:solidFill>
            <a:srgbClr val="1E90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0" y="6477000"/>
            <a:ext cx="12192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000" b="0" i="0" u="none" strike="noStrike">
                <a:solidFill>
                  <a:srgbClr val="FFFFFF">
                    <a:alpha val="50196"/>
                  </a:srgbClr>
                </a:solidFill>
                <a:latin typeface="Noto Sans SC"/>
                <a:ea typeface="Noto Sans SC"/>
                <a:cs typeface="Noto Sans SC"/>
                <a:sym typeface="Noto Sans SC"/>
              </a:rPr>
              <a:t>QUANTUM PHYSICS · 2025 NOBEL PRIZE</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B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D1B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304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FFFFFF"/>
                </a:solidFill>
                <a:latin typeface="Poppins"/>
                <a:ea typeface="Poppins"/>
                <a:cs typeface="Poppins"/>
                <a:sym typeface="Poppins"/>
              </a:rPr>
              <a:t>Agenda</a:t>
            </a:r>
            <a:endParaRPr lang="en-US" sz="1100" dirty="0"/>
          </a:p>
        </p:txBody>
      </p:sp>
      <p:sp>
        <p:nvSpPr>
          <p:cNvPr id="5" name="AutoShape 5"/>
          <p:cNvSpPr/>
          <p:nvPr/>
        </p:nvSpPr>
        <p:spPr>
          <a:xfrm>
            <a:off x="762000" y="1524000"/>
            <a:ext cx="5080000" cy="1397000"/>
          </a:xfrm>
          <a:prstGeom prst="roundRect">
            <a:avLst>
              <a:gd name="adj" fmla="val 9090"/>
            </a:avLst>
          </a:prstGeom>
          <a:solidFill>
            <a:srgbClr val="FFFFFF">
              <a:alpha val="8000"/>
            </a:srgbClr>
          </a:solidFill>
          <a:ln w="12700" cap="flat" cmpd="sng">
            <a:solidFill>
              <a:srgbClr val="1E90FF">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6800" y="1917700"/>
            <a:ext cx="609600" cy="609600"/>
          </a:xfrm>
          <a:prstGeom prst="rect">
            <a:avLst/>
          </a:prstGeom>
        </p:spPr>
      </p:pic>
      <p:sp>
        <p:nvSpPr>
          <p:cNvPr id="7" name="AutoShape 7"/>
          <p:cNvSpPr/>
          <p:nvPr/>
        </p:nvSpPr>
        <p:spPr>
          <a:xfrm>
            <a:off x="1905000" y="17145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FFFFFF"/>
                </a:solidFill>
                <a:latin typeface="Poppins"/>
                <a:ea typeface="Poppins"/>
                <a:cs typeface="Poppins"/>
                <a:sym typeface="Poppins"/>
              </a:rPr>
              <a:t>Core Concept</a:t>
            </a:r>
            <a:endParaRPr lang="en-US" sz="1100" dirty="0"/>
          </a:p>
        </p:txBody>
      </p:sp>
      <p:sp>
        <p:nvSpPr>
          <p:cNvPr id="8" name="AutoShape 8"/>
          <p:cNvSpPr/>
          <p:nvPr/>
        </p:nvSpPr>
        <p:spPr>
          <a:xfrm>
            <a:off x="1905000" y="2095500"/>
            <a:ext cx="368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alpha val="70196"/>
                  </a:srgbClr>
                </a:solidFill>
                <a:latin typeface="Poppins"/>
                <a:ea typeface="Poppins"/>
                <a:cs typeface="Poppins"/>
                <a:sym typeface="Poppins"/>
              </a:rPr>
              <a:t>The Nobel-winning discovery explained.</a:t>
            </a:r>
            <a:endParaRPr lang="en-US" sz="1100"/>
          </a:p>
        </p:txBody>
      </p:sp>
      <p:sp>
        <p:nvSpPr>
          <p:cNvPr id="9" name="AutoShape 9"/>
          <p:cNvSpPr/>
          <p:nvPr/>
        </p:nvSpPr>
        <p:spPr>
          <a:xfrm>
            <a:off x="6350000" y="1524000"/>
            <a:ext cx="5080000" cy="1397000"/>
          </a:xfrm>
          <a:prstGeom prst="roundRect">
            <a:avLst>
              <a:gd name="adj" fmla="val 9090"/>
            </a:avLst>
          </a:prstGeom>
          <a:solidFill>
            <a:srgbClr val="FFFFFF">
              <a:alpha val="8000"/>
            </a:srgbClr>
          </a:solidFill>
          <a:ln w="12700" cap="flat" cmpd="sng">
            <a:solidFill>
              <a:srgbClr val="1E90FF">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54800" y="1917700"/>
            <a:ext cx="609600" cy="609600"/>
          </a:xfrm>
          <a:prstGeom prst="rect">
            <a:avLst/>
          </a:prstGeom>
        </p:spPr>
      </p:pic>
      <p:sp>
        <p:nvSpPr>
          <p:cNvPr id="11" name="AutoShape 11"/>
          <p:cNvSpPr/>
          <p:nvPr/>
        </p:nvSpPr>
        <p:spPr>
          <a:xfrm>
            <a:off x="7493000" y="17145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Poppins"/>
                <a:ea typeface="Poppins"/>
                <a:cs typeface="Poppins"/>
                <a:sym typeface="Poppins"/>
              </a:rPr>
              <a:t>Current Applications</a:t>
            </a:r>
            <a:endParaRPr lang="en-US" sz="1100"/>
          </a:p>
        </p:txBody>
      </p:sp>
      <p:sp>
        <p:nvSpPr>
          <p:cNvPr id="12" name="AutoShape 12"/>
          <p:cNvSpPr/>
          <p:nvPr/>
        </p:nvSpPr>
        <p:spPr>
          <a:xfrm>
            <a:off x="7493000" y="2095500"/>
            <a:ext cx="368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alpha val="70196"/>
                  </a:srgbClr>
                </a:solidFill>
                <a:latin typeface="Poppins"/>
                <a:ea typeface="Poppins"/>
                <a:cs typeface="Poppins"/>
                <a:sym typeface="Poppins"/>
              </a:rPr>
              <a:t>How it's shaping today's technology.</a:t>
            </a:r>
            <a:endParaRPr lang="en-US" sz="1100"/>
          </a:p>
        </p:txBody>
      </p:sp>
      <p:sp>
        <p:nvSpPr>
          <p:cNvPr id="13" name="AutoShape 13"/>
          <p:cNvSpPr/>
          <p:nvPr/>
        </p:nvSpPr>
        <p:spPr>
          <a:xfrm>
            <a:off x="762000" y="3302000"/>
            <a:ext cx="5080000" cy="1397000"/>
          </a:xfrm>
          <a:prstGeom prst="roundRect">
            <a:avLst>
              <a:gd name="adj" fmla="val 9090"/>
            </a:avLst>
          </a:prstGeom>
          <a:solidFill>
            <a:srgbClr val="FFFFFF">
              <a:alpha val="8000"/>
            </a:srgbClr>
          </a:solidFill>
          <a:ln w="12700" cap="flat" cmpd="sng">
            <a:solidFill>
              <a:srgbClr val="1E90FF">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66800" y="3695700"/>
            <a:ext cx="609600" cy="609600"/>
          </a:xfrm>
          <a:prstGeom prst="rect">
            <a:avLst/>
          </a:prstGeom>
        </p:spPr>
      </p:pic>
      <p:sp>
        <p:nvSpPr>
          <p:cNvPr id="15" name="AutoShape 15"/>
          <p:cNvSpPr/>
          <p:nvPr/>
        </p:nvSpPr>
        <p:spPr>
          <a:xfrm>
            <a:off x="1905000" y="34925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Poppins"/>
                <a:ea typeface="Poppins"/>
                <a:cs typeface="Poppins"/>
                <a:sym typeface="Poppins"/>
              </a:rPr>
              <a:t>Ethical Considerations</a:t>
            </a:r>
            <a:endParaRPr lang="en-US" sz="1100"/>
          </a:p>
        </p:txBody>
      </p:sp>
      <p:sp>
        <p:nvSpPr>
          <p:cNvPr id="16" name="AutoShape 16"/>
          <p:cNvSpPr/>
          <p:nvPr/>
        </p:nvSpPr>
        <p:spPr>
          <a:xfrm>
            <a:off x="1905000" y="3873500"/>
            <a:ext cx="368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alpha val="70196"/>
                  </a:srgbClr>
                </a:solidFill>
                <a:latin typeface="Poppins"/>
                <a:ea typeface="Poppins"/>
                <a:cs typeface="Poppins"/>
                <a:sym typeface="Poppins"/>
              </a:rPr>
              <a:t>Opportunities and challenges ahead.</a:t>
            </a:r>
            <a:endParaRPr lang="en-US" sz="1100"/>
          </a:p>
        </p:txBody>
      </p:sp>
      <p:sp>
        <p:nvSpPr>
          <p:cNvPr id="17" name="AutoShape 17"/>
          <p:cNvSpPr/>
          <p:nvPr/>
        </p:nvSpPr>
        <p:spPr>
          <a:xfrm>
            <a:off x="6350000" y="3302000"/>
            <a:ext cx="5080000" cy="1397000"/>
          </a:xfrm>
          <a:prstGeom prst="roundRect">
            <a:avLst>
              <a:gd name="adj" fmla="val 9090"/>
            </a:avLst>
          </a:prstGeom>
          <a:solidFill>
            <a:srgbClr val="FFFFFF">
              <a:alpha val="8000"/>
            </a:srgbClr>
          </a:solidFill>
          <a:ln w="12700" cap="flat" cmpd="sng">
            <a:solidFill>
              <a:srgbClr val="1E90FF">
                <a:alpha val="3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654800" y="3695700"/>
            <a:ext cx="609600" cy="609600"/>
          </a:xfrm>
          <a:prstGeom prst="rect">
            <a:avLst/>
          </a:prstGeom>
        </p:spPr>
      </p:pic>
      <p:sp>
        <p:nvSpPr>
          <p:cNvPr id="19" name="AutoShape 19"/>
          <p:cNvSpPr/>
          <p:nvPr/>
        </p:nvSpPr>
        <p:spPr>
          <a:xfrm>
            <a:off x="7493000" y="34925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Poppins"/>
                <a:ea typeface="Poppins"/>
                <a:cs typeface="Poppins"/>
                <a:sym typeface="Poppins"/>
              </a:rPr>
              <a:t>Conclusion &amp; Call to Action</a:t>
            </a:r>
            <a:endParaRPr lang="en-US" sz="1100"/>
          </a:p>
        </p:txBody>
      </p:sp>
      <p:sp>
        <p:nvSpPr>
          <p:cNvPr id="20" name="AutoShape 20"/>
          <p:cNvSpPr/>
          <p:nvPr/>
        </p:nvSpPr>
        <p:spPr>
          <a:xfrm>
            <a:off x="7493000" y="3873500"/>
            <a:ext cx="368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alpha val="70196"/>
                  </a:srgbClr>
                </a:solidFill>
                <a:latin typeface="Poppins"/>
                <a:ea typeface="Poppins"/>
                <a:cs typeface="Poppins"/>
                <a:sym typeface="Poppins"/>
              </a:rPr>
              <a:t>Our shared responsibility.</a:t>
            </a:r>
            <a:endParaRPr lang="en-US" sz="1100"/>
          </a:p>
        </p:txBody>
      </p:sp>
      <p:sp>
        <p:nvSpPr>
          <p:cNvPr id="21" name="AutoShape 21"/>
          <p:cNvSpPr/>
          <p:nvPr/>
        </p:nvSpPr>
        <p:spPr>
          <a:xfrm>
            <a:off x="762000" y="5334000"/>
            <a:ext cx="10668000" cy="25400"/>
          </a:xfrm>
          <a:prstGeom prst="roundRect">
            <a:avLst>
              <a:gd name="adj" fmla="val 0"/>
            </a:avLst>
          </a:prstGeom>
          <a:gradFill rotWithShape="1">
            <a:gsLst>
              <a:gs pos="0">
                <a:srgbClr val="1E90FF">
                  <a:alpha val="100000"/>
                </a:srgbClr>
              </a:gs>
              <a:gs pos="100000">
                <a:srgbClr val="1E90FF">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762000" y="5588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50196"/>
                  </a:srgbClr>
                </a:solidFill>
                <a:latin typeface="Poppins"/>
                <a:ea typeface="Poppins"/>
                <a:cs typeface="Poppins"/>
                <a:sym typeface="Poppins"/>
              </a:rPr>
              <a:t>2025 Nobel Prize in Physics · Quantum Technology Symposium</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AC96A-2856-E38E-A5A8-D0246F83EA47}"/>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DFE688AE-2291-4391-2B27-67090166D3ED}"/>
              </a:ext>
            </a:extLst>
          </p:cNvPr>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a:extLst>
              <a:ext uri="{FF2B5EF4-FFF2-40B4-BE49-F238E27FC236}">
                <a16:creationId xmlns:a16="http://schemas.microsoft.com/office/drawing/2014/main" id="{255A4E49-37EA-EF04-D787-EF168B2E7FAC}"/>
              </a:ext>
            </a:extLst>
          </p:cNvPr>
          <p:cNvSpPr/>
          <p:nvPr/>
        </p:nvSpPr>
        <p:spPr>
          <a:xfrm>
            <a:off x="0" y="0"/>
            <a:ext cx="12192000" cy="6858000"/>
          </a:xfrm>
          <a:prstGeom prst="roundRect">
            <a:avLst>
              <a:gd name="adj" fmla="val 0"/>
            </a:avLst>
          </a:prstGeom>
          <a:solidFill>
            <a:srgbClr val="0D1B2A">
              <a:alpha val="9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4" name="AutoShape 4">
            <a:extLst>
              <a:ext uri="{FF2B5EF4-FFF2-40B4-BE49-F238E27FC236}">
                <a16:creationId xmlns:a16="http://schemas.microsoft.com/office/drawing/2014/main" id="{C02033D3-D3BD-5C12-279E-861F37FB7A47}"/>
              </a:ext>
            </a:extLst>
          </p:cNvPr>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FFFFFF"/>
                </a:solidFill>
                <a:latin typeface="Poppins"/>
                <a:ea typeface="Poppins"/>
                <a:cs typeface="Poppins"/>
                <a:sym typeface="Poppins"/>
              </a:rPr>
              <a:t>Hook</a:t>
            </a:r>
            <a:endParaRPr lang="en-US" sz="1100" dirty="0"/>
          </a:p>
        </p:txBody>
      </p:sp>
      <p:sp>
        <p:nvSpPr>
          <p:cNvPr id="6" name="AutoShape 6">
            <a:extLst>
              <a:ext uri="{FF2B5EF4-FFF2-40B4-BE49-F238E27FC236}">
                <a16:creationId xmlns:a16="http://schemas.microsoft.com/office/drawing/2014/main" id="{9277B12E-4316-E6A7-2596-C349EA1F7FCF}"/>
              </a:ext>
            </a:extLst>
          </p:cNvPr>
          <p:cNvSpPr/>
          <p:nvPr/>
        </p:nvSpPr>
        <p:spPr>
          <a:xfrm>
            <a:off x="1193800" y="1473200"/>
            <a:ext cx="584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endParaRPr lang="en-US" sz="1100" dirty="0"/>
          </a:p>
        </p:txBody>
      </p:sp>
      <p:sp>
        <p:nvSpPr>
          <p:cNvPr id="7" name="AutoShape 7">
            <a:extLst>
              <a:ext uri="{FF2B5EF4-FFF2-40B4-BE49-F238E27FC236}">
                <a16:creationId xmlns:a16="http://schemas.microsoft.com/office/drawing/2014/main" id="{3C051088-25D7-E746-7E6F-B33D59773DFA}"/>
              </a:ext>
            </a:extLst>
          </p:cNvPr>
          <p:cNvSpPr/>
          <p:nvPr/>
        </p:nvSpPr>
        <p:spPr>
          <a:xfrm>
            <a:off x="1193800" y="1854200"/>
            <a:ext cx="584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endParaRPr lang="en-US" sz="1100" dirty="0"/>
          </a:p>
        </p:txBody>
      </p:sp>
      <p:sp>
        <p:nvSpPr>
          <p:cNvPr id="9" name="AutoShape 9">
            <a:extLst>
              <a:ext uri="{FF2B5EF4-FFF2-40B4-BE49-F238E27FC236}">
                <a16:creationId xmlns:a16="http://schemas.microsoft.com/office/drawing/2014/main" id="{EDD9FACF-4441-6C93-A73E-20D0C5AC928A}"/>
              </a:ext>
            </a:extLst>
          </p:cNvPr>
          <p:cNvSpPr/>
          <p:nvPr/>
        </p:nvSpPr>
        <p:spPr>
          <a:xfrm>
            <a:off x="1193800" y="2489200"/>
            <a:ext cx="584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endParaRPr lang="en-US" sz="1100" dirty="0"/>
          </a:p>
        </p:txBody>
      </p:sp>
      <p:sp>
        <p:nvSpPr>
          <p:cNvPr id="10" name="AutoShape 10">
            <a:extLst>
              <a:ext uri="{FF2B5EF4-FFF2-40B4-BE49-F238E27FC236}">
                <a16:creationId xmlns:a16="http://schemas.microsoft.com/office/drawing/2014/main" id="{1C3B65EE-E15E-0AD3-AB1F-63FEB7684CEC}"/>
              </a:ext>
            </a:extLst>
          </p:cNvPr>
          <p:cNvSpPr/>
          <p:nvPr/>
        </p:nvSpPr>
        <p:spPr>
          <a:xfrm>
            <a:off x="1193800" y="2870200"/>
            <a:ext cx="5842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endParaRPr lang="en-US" sz="1100" dirty="0"/>
          </a:p>
        </p:txBody>
      </p:sp>
      <p:sp>
        <p:nvSpPr>
          <p:cNvPr id="12" name="AutoShape 12">
            <a:extLst>
              <a:ext uri="{FF2B5EF4-FFF2-40B4-BE49-F238E27FC236}">
                <a16:creationId xmlns:a16="http://schemas.microsoft.com/office/drawing/2014/main" id="{A1C6C162-CD99-D665-3EA8-5523583DFA35}"/>
              </a:ext>
            </a:extLst>
          </p:cNvPr>
          <p:cNvSpPr/>
          <p:nvPr/>
        </p:nvSpPr>
        <p:spPr>
          <a:xfrm>
            <a:off x="1193800" y="3759200"/>
            <a:ext cx="584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endParaRPr lang="en-US" sz="1100" dirty="0"/>
          </a:p>
        </p:txBody>
      </p:sp>
      <p:sp>
        <p:nvSpPr>
          <p:cNvPr id="13" name="AutoShape 13">
            <a:extLst>
              <a:ext uri="{FF2B5EF4-FFF2-40B4-BE49-F238E27FC236}">
                <a16:creationId xmlns:a16="http://schemas.microsoft.com/office/drawing/2014/main" id="{1C519B93-CF37-A59B-25CE-6D2064512E2B}"/>
              </a:ext>
            </a:extLst>
          </p:cNvPr>
          <p:cNvSpPr/>
          <p:nvPr/>
        </p:nvSpPr>
        <p:spPr>
          <a:xfrm>
            <a:off x="1193800" y="4140200"/>
            <a:ext cx="5842000" cy="101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endParaRPr lang="en-US" sz="1100" dirty="0"/>
          </a:p>
        </p:txBody>
      </p:sp>
      <p:sp>
        <p:nvSpPr>
          <p:cNvPr id="15" name="AutoShape 15">
            <a:extLst>
              <a:ext uri="{FF2B5EF4-FFF2-40B4-BE49-F238E27FC236}">
                <a16:creationId xmlns:a16="http://schemas.microsoft.com/office/drawing/2014/main" id="{82EEFD07-8C23-BEF3-F789-E24503CA2BEB}"/>
              </a:ext>
            </a:extLst>
          </p:cNvPr>
          <p:cNvSpPr/>
          <p:nvPr/>
        </p:nvSpPr>
        <p:spPr>
          <a:xfrm>
            <a:off x="7366000" y="4445000"/>
            <a:ext cx="406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dirty="0"/>
          </a:p>
        </p:txBody>
      </p:sp>
      <p:sp>
        <p:nvSpPr>
          <p:cNvPr id="16" name="AutoShape 16">
            <a:extLst>
              <a:ext uri="{FF2B5EF4-FFF2-40B4-BE49-F238E27FC236}">
                <a16:creationId xmlns:a16="http://schemas.microsoft.com/office/drawing/2014/main" id="{A5982EF8-BFA2-8537-4301-9AAA5840B43C}"/>
              </a:ext>
            </a:extLst>
          </p:cNvPr>
          <p:cNvSpPr/>
          <p:nvPr/>
        </p:nvSpPr>
        <p:spPr>
          <a:xfrm>
            <a:off x="762000" y="5715000"/>
            <a:ext cx="10668000" cy="25400"/>
          </a:xfrm>
          <a:prstGeom prst="roundRect">
            <a:avLst>
              <a:gd name="adj" fmla="val 0"/>
            </a:avLst>
          </a:prstGeom>
          <a:gradFill rotWithShape="1">
            <a:gsLst>
              <a:gs pos="0">
                <a:srgbClr val="1E90FF">
                  <a:alpha val="100000"/>
                </a:srgbClr>
              </a:gs>
              <a:gs pos="100000">
                <a:srgbClr val="1E90FF">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17" name="文本框 16">
            <a:extLst>
              <a:ext uri="{FF2B5EF4-FFF2-40B4-BE49-F238E27FC236}">
                <a16:creationId xmlns:a16="http://schemas.microsoft.com/office/drawing/2014/main" id="{5667E89B-DD3E-7A8F-F94F-77905503D312}"/>
              </a:ext>
            </a:extLst>
          </p:cNvPr>
          <p:cNvSpPr txBox="1"/>
          <p:nvPr/>
        </p:nvSpPr>
        <p:spPr>
          <a:xfrm>
            <a:off x="892629" y="1473200"/>
            <a:ext cx="8294914" cy="1569660"/>
          </a:xfrm>
          <a:prstGeom prst="rect">
            <a:avLst/>
          </a:prstGeom>
          <a:noFill/>
        </p:spPr>
        <p:txBody>
          <a:bodyPr wrap="square" rtlCol="0">
            <a:spAutoFit/>
          </a:bodyPr>
          <a:lstStyle/>
          <a:p>
            <a:r>
              <a:rPr lang="en-US" altLang="zh-CN" sz="2400" dirty="0">
                <a:solidFill>
                  <a:schemeClr val="bg1"/>
                </a:solidFill>
              </a:rPr>
              <a:t>How much prize money do Nobel Prize winners receive?</a:t>
            </a:r>
          </a:p>
          <a:p>
            <a:endParaRPr lang="en-US" altLang="zh-CN" sz="2400" dirty="0">
              <a:solidFill>
                <a:schemeClr val="bg1"/>
              </a:solidFill>
            </a:endParaRPr>
          </a:p>
          <a:p>
            <a:endParaRPr lang="en-US" altLang="zh-CN" sz="2400" dirty="0">
              <a:solidFill>
                <a:schemeClr val="bg1"/>
              </a:solidFill>
            </a:endParaRPr>
          </a:p>
          <a:p>
            <a:r>
              <a:rPr lang="en-US" altLang="zh-CN" sz="2400" dirty="0">
                <a:solidFill>
                  <a:schemeClr val="bg1"/>
                </a:solidFill>
              </a:rPr>
              <a:t>11 million Swedish kronor=834 5260 0000 </a:t>
            </a:r>
            <a:r>
              <a:rPr lang="en-US" altLang="zh-CN" sz="2400" dirty="0" err="1">
                <a:solidFill>
                  <a:schemeClr val="bg1"/>
                </a:solidFill>
              </a:rPr>
              <a:t>rmb</a:t>
            </a:r>
            <a:endParaRPr lang="zh-CN" altLang="en-US" sz="2400" dirty="0">
              <a:solidFill>
                <a:schemeClr val="bg1"/>
              </a:solidFill>
            </a:endParaRPr>
          </a:p>
        </p:txBody>
      </p:sp>
    </p:spTree>
    <p:extLst>
      <p:ext uri="{BB962C8B-B14F-4D97-AF65-F5344CB8AC3E}">
        <p14:creationId xmlns:p14="http://schemas.microsoft.com/office/powerpoint/2010/main" val="4091759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
                                            <p:txEl>
                                              <p:pRg st="3" end="3"/>
                                            </p:txEl>
                                          </p:spTgt>
                                        </p:tgtEl>
                                        <p:attrNameLst>
                                          <p:attrName>style.visibility</p:attrName>
                                        </p:attrNameLst>
                                      </p:cBhvr>
                                      <p:to>
                                        <p:strVal val="visible"/>
                                      </p:to>
                                    </p:set>
                                    <p:anim calcmode="lin" valueType="num">
                                      <p:cBhvr additive="base">
                                        <p:cTn id="7" dur="500" fill="hold"/>
                                        <p:tgtEl>
                                          <p:spTgt spid="1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B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D1B2A">
              <a:alpha val="9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FFFFFF"/>
                </a:solidFill>
                <a:latin typeface="Poppins"/>
                <a:ea typeface="Poppins"/>
                <a:cs typeface="Poppins"/>
                <a:sym typeface="Poppins"/>
              </a:rPr>
              <a:t>Core Concept: Macroscopic Quantum Effects</a:t>
            </a:r>
            <a:endParaRPr lang="en-US" sz="1100" dirty="0"/>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2000" y="1524000"/>
            <a:ext cx="304800" cy="304800"/>
          </a:xfrm>
          <a:prstGeom prst="rect">
            <a:avLst/>
          </a:prstGeom>
        </p:spPr>
      </p:pic>
      <p:sp>
        <p:nvSpPr>
          <p:cNvPr id="6" name="AutoShape 6"/>
          <p:cNvSpPr/>
          <p:nvPr/>
        </p:nvSpPr>
        <p:spPr>
          <a:xfrm>
            <a:off x="1193800" y="1473200"/>
            <a:ext cx="584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E90FF"/>
                </a:solidFill>
                <a:latin typeface="Poppins"/>
                <a:ea typeface="Poppins"/>
                <a:cs typeface="Poppins"/>
                <a:sym typeface="Poppins"/>
              </a:rPr>
              <a:t>Laureates</a:t>
            </a:r>
            <a:endParaRPr lang="en-US" sz="1100"/>
          </a:p>
        </p:txBody>
      </p:sp>
      <p:sp>
        <p:nvSpPr>
          <p:cNvPr id="7" name="AutoShape 7"/>
          <p:cNvSpPr/>
          <p:nvPr/>
        </p:nvSpPr>
        <p:spPr>
          <a:xfrm>
            <a:off x="1193800" y="1854200"/>
            <a:ext cx="584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alpha val="90196"/>
                  </a:srgbClr>
                </a:solidFill>
                <a:latin typeface="Poppins"/>
                <a:ea typeface="Poppins"/>
                <a:cs typeface="Poppins"/>
                <a:sym typeface="Poppins"/>
              </a:rPr>
              <a:t>John Clarke, Michel H. Devoret, John M. Martinis</a:t>
            </a:r>
            <a:endParaRPr lang="en-US" sz="1100"/>
          </a:p>
        </p:txBody>
      </p:sp>
      <p:pic>
        <p:nvPicPr>
          <p:cNvPr id="8" name="Picture 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62000" y="2540000"/>
            <a:ext cx="304800" cy="304800"/>
          </a:xfrm>
          <a:prstGeom prst="rect">
            <a:avLst/>
          </a:prstGeom>
        </p:spPr>
      </p:pic>
      <p:sp>
        <p:nvSpPr>
          <p:cNvPr id="9" name="AutoShape 9"/>
          <p:cNvSpPr/>
          <p:nvPr/>
        </p:nvSpPr>
        <p:spPr>
          <a:xfrm>
            <a:off x="1193800" y="2489200"/>
            <a:ext cx="584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E90FF"/>
                </a:solidFill>
                <a:latin typeface="Poppins"/>
                <a:ea typeface="Poppins"/>
                <a:cs typeface="Poppins"/>
                <a:sym typeface="Poppins"/>
              </a:rPr>
              <a:t>Discovery</a:t>
            </a:r>
            <a:endParaRPr lang="en-US" sz="1100"/>
          </a:p>
        </p:txBody>
      </p:sp>
      <p:sp>
        <p:nvSpPr>
          <p:cNvPr id="10" name="AutoShape 10"/>
          <p:cNvSpPr/>
          <p:nvPr/>
        </p:nvSpPr>
        <p:spPr>
          <a:xfrm>
            <a:off x="1193800" y="2870200"/>
            <a:ext cx="5842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dirty="0">
                <a:solidFill>
                  <a:srgbClr val="FFFFFF">
                    <a:alpha val="90196"/>
                  </a:srgbClr>
                </a:solidFill>
                <a:latin typeface="Poppins"/>
                <a:ea typeface="Poppins"/>
                <a:cs typeface="Poppins"/>
                <a:sym typeface="Poppins"/>
              </a:rPr>
              <a:t>They </a:t>
            </a:r>
            <a:r>
              <a:rPr lang="en-US" sz="1400" b="0" i="0" u="none" strike="noStrike" dirty="0" err="1">
                <a:solidFill>
                  <a:srgbClr val="FFFFFF">
                    <a:alpha val="90196"/>
                  </a:srgbClr>
                </a:solidFill>
                <a:latin typeface="Poppins"/>
                <a:ea typeface="Poppins"/>
                <a:cs typeface="Poppins"/>
                <a:sym typeface="Poppins"/>
              </a:rPr>
              <a:t>demonstrated</a:t>
            </a:r>
            <a:r>
              <a:rPr lang="en-US" sz="1400" b="1" i="0" u="none" strike="noStrike" dirty="0" err="1">
                <a:solidFill>
                  <a:srgbClr val="1E90FF"/>
                </a:solidFill>
                <a:latin typeface="Poppins"/>
                <a:ea typeface="Poppins"/>
                <a:cs typeface="Poppins"/>
                <a:sym typeface="Poppins"/>
              </a:rPr>
              <a:t>quantum</a:t>
            </a:r>
            <a:r>
              <a:rPr lang="en-US" sz="1400" b="1" i="0" u="none" strike="noStrike" dirty="0">
                <a:solidFill>
                  <a:srgbClr val="1E90FF"/>
                </a:solidFill>
                <a:latin typeface="Poppins"/>
                <a:ea typeface="Poppins"/>
                <a:cs typeface="Poppins"/>
                <a:sym typeface="Poppins"/>
              </a:rPr>
              <a:t> </a:t>
            </a:r>
            <a:r>
              <a:rPr lang="en-US" sz="1400" b="1" i="0" u="none" strike="noStrike" dirty="0" err="1">
                <a:solidFill>
                  <a:srgbClr val="1E90FF"/>
                </a:solidFill>
                <a:latin typeface="Poppins"/>
                <a:ea typeface="Poppins"/>
                <a:cs typeface="Poppins"/>
                <a:sym typeface="Poppins"/>
              </a:rPr>
              <a:t>tunneling</a:t>
            </a:r>
            <a:r>
              <a:rPr lang="en-US" sz="1400" b="0" i="0" u="none" strike="noStrike" dirty="0" err="1">
                <a:solidFill>
                  <a:srgbClr val="FFFFFF">
                    <a:alpha val="90196"/>
                  </a:srgbClr>
                </a:solidFill>
                <a:latin typeface="Poppins"/>
                <a:ea typeface="Poppins"/>
                <a:cs typeface="Poppins"/>
                <a:sym typeface="Poppins"/>
              </a:rPr>
              <a:t>and</a:t>
            </a:r>
            <a:r>
              <a:rPr lang="en-US" sz="1400" b="1" i="0" u="none" strike="noStrike" dirty="0" err="1">
                <a:solidFill>
                  <a:srgbClr val="1E90FF"/>
                </a:solidFill>
                <a:latin typeface="Poppins"/>
                <a:ea typeface="Poppins"/>
                <a:cs typeface="Poppins"/>
                <a:sym typeface="Poppins"/>
              </a:rPr>
              <a:t>energy</a:t>
            </a:r>
            <a:r>
              <a:rPr lang="en-US" sz="1400" b="1" i="0" u="none" strike="noStrike" dirty="0">
                <a:solidFill>
                  <a:srgbClr val="1E90FF"/>
                </a:solidFill>
                <a:latin typeface="Poppins"/>
                <a:ea typeface="Poppins"/>
                <a:cs typeface="Poppins"/>
                <a:sym typeface="Poppins"/>
              </a:rPr>
              <a:t> </a:t>
            </a:r>
            <a:r>
              <a:rPr lang="en-US" sz="1400" b="1" i="0" u="none" strike="noStrike" dirty="0" err="1">
                <a:solidFill>
                  <a:srgbClr val="1E90FF"/>
                </a:solidFill>
                <a:latin typeface="Poppins"/>
                <a:ea typeface="Poppins"/>
                <a:cs typeface="Poppins"/>
                <a:sym typeface="Poppins"/>
              </a:rPr>
              <a:t>quantization</a:t>
            </a:r>
            <a:r>
              <a:rPr lang="en-US" sz="1400" b="0" i="0" u="none" strike="noStrike" dirty="0" err="1">
                <a:solidFill>
                  <a:srgbClr val="FFFFFF">
                    <a:alpha val="90196"/>
                  </a:srgbClr>
                </a:solidFill>
                <a:latin typeface="Poppins"/>
                <a:ea typeface="Poppins"/>
                <a:cs typeface="Poppins"/>
                <a:sym typeface="Poppins"/>
              </a:rPr>
              <a:t>in</a:t>
            </a:r>
            <a:r>
              <a:rPr lang="en-US" sz="1400" b="0" i="0" u="none" strike="noStrike" dirty="0">
                <a:solidFill>
                  <a:srgbClr val="FFFFFF">
                    <a:alpha val="90196"/>
                  </a:srgbClr>
                </a:solidFill>
                <a:latin typeface="Poppins"/>
                <a:ea typeface="Poppins"/>
                <a:cs typeface="Poppins"/>
                <a:sym typeface="Poppins"/>
              </a:rPr>
              <a:t> a macroscopic electrical circuit.</a:t>
            </a:r>
            <a:endParaRPr lang="en-US" sz="1100" dirty="0"/>
          </a:p>
        </p:txBody>
      </p:sp>
      <p:pic>
        <p:nvPicPr>
          <p:cNvPr id="11" name="Picture 11"/>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62000" y="3810000"/>
            <a:ext cx="304800" cy="304800"/>
          </a:xfrm>
          <a:prstGeom prst="rect">
            <a:avLst/>
          </a:prstGeom>
        </p:spPr>
      </p:pic>
      <p:sp>
        <p:nvSpPr>
          <p:cNvPr id="12" name="AutoShape 12"/>
          <p:cNvSpPr/>
          <p:nvPr/>
        </p:nvSpPr>
        <p:spPr>
          <a:xfrm>
            <a:off x="1193800" y="3759200"/>
            <a:ext cx="584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E90FF"/>
                </a:solidFill>
                <a:latin typeface="Poppins"/>
                <a:ea typeface="Poppins"/>
                <a:cs typeface="Poppins"/>
                <a:sym typeface="Poppins"/>
              </a:rPr>
              <a:t>Significance</a:t>
            </a:r>
            <a:endParaRPr lang="en-US" sz="1100"/>
          </a:p>
        </p:txBody>
      </p:sp>
      <p:sp>
        <p:nvSpPr>
          <p:cNvPr id="13" name="AutoShape 13"/>
          <p:cNvSpPr/>
          <p:nvPr/>
        </p:nvSpPr>
        <p:spPr>
          <a:xfrm>
            <a:off x="1193800" y="4140200"/>
            <a:ext cx="5842000" cy="101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dirty="0">
                <a:solidFill>
                  <a:srgbClr val="FFFFFF">
                    <a:alpha val="90196"/>
                  </a:srgbClr>
                </a:solidFill>
                <a:latin typeface="Poppins"/>
                <a:ea typeface="Poppins"/>
                <a:cs typeface="Poppins"/>
                <a:sym typeface="Poppins"/>
              </a:rPr>
              <a:t>This proves that quantum behavior isn't limited to the tiny world of atoms, but can exist in systems large enough to see and touch.</a:t>
            </a:r>
            <a:endParaRPr lang="en-US" sz="1100" dirty="0"/>
          </a:p>
        </p:txBody>
      </p:sp>
      <p:pic>
        <p:nvPicPr>
          <p:cNvPr id="14" name="Picture 14"/>
          <p:cNvPicPr>
            <a:picLocks noChangeAspect="1"/>
          </p:cNvPicPr>
          <p:nvPr/>
        </p:nvPicPr>
        <p:blipFill>
          <a:blip r:embed="rId10"/>
          <a:srcRect/>
          <a:stretch>
            <a:fillRect/>
          </a:stretch>
        </p:blipFill>
        <p:spPr>
          <a:xfrm>
            <a:off x="7366000" y="2032000"/>
            <a:ext cx="4064000" cy="2286000"/>
          </a:xfrm>
          <a:prstGeom prst="roundRect">
            <a:avLst>
              <a:gd name="adj" fmla="val 5555"/>
            </a:avLst>
          </a:prstGeom>
          <a:noFill/>
          <a:ln w="12700" cap="flat" cmpd="sng">
            <a:solidFill>
              <a:srgbClr val="1E90FF">
                <a:alpha val="50000"/>
              </a:srgbClr>
            </a:solidFill>
            <a:prstDash val="solid"/>
            <a:round/>
          </a:ln>
          <a:effectLst>
            <a:outerShdw blurRad="254000" dist="127000" dir="5400000" algn="tl" rotWithShape="0">
              <a:srgbClr val="000000">
                <a:alpha val="50000"/>
              </a:srgbClr>
            </a:outerShdw>
          </a:effectLst>
        </p:spPr>
      </p:pic>
      <p:sp>
        <p:nvSpPr>
          <p:cNvPr id="15" name="AutoShape 15"/>
          <p:cNvSpPr/>
          <p:nvPr/>
        </p:nvSpPr>
        <p:spPr>
          <a:xfrm>
            <a:off x="7366000" y="4445000"/>
            <a:ext cx="406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alpha val="60000"/>
                  </a:srgbClr>
                </a:solidFill>
                <a:latin typeface="Poppins"/>
                <a:ea typeface="Poppins"/>
                <a:cs typeface="Poppins"/>
                <a:sym typeface="Poppins"/>
              </a:rPr>
              <a:t>Visualization of Quantum Computing Process</a:t>
            </a:r>
            <a:endParaRPr lang="en-US" sz="1100"/>
          </a:p>
        </p:txBody>
      </p:sp>
      <p:sp>
        <p:nvSpPr>
          <p:cNvPr id="16" name="AutoShape 16"/>
          <p:cNvSpPr/>
          <p:nvPr/>
        </p:nvSpPr>
        <p:spPr>
          <a:xfrm>
            <a:off x="762000" y="5715000"/>
            <a:ext cx="10668000" cy="25400"/>
          </a:xfrm>
          <a:prstGeom prst="roundRect">
            <a:avLst>
              <a:gd name="adj" fmla="val 0"/>
            </a:avLst>
          </a:prstGeom>
          <a:gradFill rotWithShape="1">
            <a:gsLst>
              <a:gs pos="0">
                <a:srgbClr val="1E90FF">
                  <a:alpha val="100000"/>
                </a:srgbClr>
              </a:gs>
              <a:gs pos="100000">
                <a:srgbClr val="1E90FF">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B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D1B2A">
              <a:alpha val="9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Current Relevance &amp; Applications</a:t>
            </a:r>
            <a:endParaRPr lang="en-US" sz="1100"/>
          </a:p>
        </p:txBody>
      </p:sp>
      <p:sp>
        <p:nvSpPr>
          <p:cNvPr id="5" name="AutoShape 5"/>
          <p:cNvSpPr/>
          <p:nvPr/>
        </p:nvSpPr>
        <p:spPr>
          <a:xfrm>
            <a:off x="762000" y="1651000"/>
            <a:ext cx="3302000" cy="3556000"/>
          </a:xfrm>
          <a:prstGeom prst="roundRect">
            <a:avLst>
              <a:gd name="adj" fmla="val 3846"/>
            </a:avLst>
          </a:prstGeom>
          <a:solidFill>
            <a:srgbClr val="FFFFFF">
              <a:alpha val="5000"/>
            </a:srgbClr>
          </a:solidFill>
          <a:ln w="12700" cap="flat" cmpd="sng">
            <a:solidFill>
              <a:srgbClr val="1E90FF">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06600" y="1905000"/>
            <a:ext cx="812800" cy="812800"/>
          </a:xfrm>
          <a:prstGeom prst="rect">
            <a:avLst/>
          </a:prstGeom>
        </p:spPr>
      </p:pic>
      <p:sp>
        <p:nvSpPr>
          <p:cNvPr id="7" name="AutoShape 7"/>
          <p:cNvSpPr/>
          <p:nvPr/>
        </p:nvSpPr>
        <p:spPr>
          <a:xfrm>
            <a:off x="889000" y="28575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1E90FF"/>
                </a:solidFill>
                <a:latin typeface="Poppins"/>
                <a:ea typeface="Poppins"/>
                <a:cs typeface="Poppins"/>
                <a:sym typeface="Poppins"/>
              </a:rPr>
              <a:t>Quantum Computing</a:t>
            </a:r>
            <a:endParaRPr lang="en-US" sz="1100"/>
          </a:p>
        </p:txBody>
      </p:sp>
      <p:sp>
        <p:nvSpPr>
          <p:cNvPr id="8" name="AutoShape 8"/>
          <p:cNvSpPr/>
          <p:nvPr/>
        </p:nvSpPr>
        <p:spPr>
          <a:xfrm>
            <a:off x="889000" y="3302000"/>
            <a:ext cx="3048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333"/>
              </a:lnSpc>
              <a:defRPr/>
            </a:pPr>
            <a:r>
              <a:rPr lang="en-US" sz="1400" b="0" i="0" u="none" strike="noStrike">
                <a:solidFill>
                  <a:srgbClr val="E6E6E6"/>
                </a:solidFill>
                <a:latin typeface="Poppins"/>
                <a:ea typeface="Poppins"/>
                <a:cs typeface="Poppins"/>
                <a:sym typeface="Poppins"/>
              </a:rPr>
              <a:t>Building the next generation of supercomputers to solve complex problems beyond classical limits.</a:t>
            </a:r>
            <a:endParaRPr lang="en-US" sz="1100"/>
          </a:p>
        </p:txBody>
      </p:sp>
      <p:sp>
        <p:nvSpPr>
          <p:cNvPr id="9" name="AutoShape 9"/>
          <p:cNvSpPr/>
          <p:nvPr/>
        </p:nvSpPr>
        <p:spPr>
          <a:xfrm>
            <a:off x="4445000" y="1651000"/>
            <a:ext cx="3302000" cy="3556000"/>
          </a:xfrm>
          <a:prstGeom prst="roundRect">
            <a:avLst>
              <a:gd name="adj" fmla="val 3846"/>
            </a:avLst>
          </a:prstGeom>
          <a:solidFill>
            <a:srgbClr val="FFFFFF">
              <a:alpha val="5000"/>
            </a:srgbClr>
          </a:solidFill>
          <a:ln w="12700" cap="flat" cmpd="sng">
            <a:solidFill>
              <a:srgbClr val="1E90FF">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srcRect l="40" r="40"/>
          <a:stretch>
            <a:fillRect/>
          </a:stretch>
        </p:blipFill>
        <p:spPr>
          <a:xfrm>
            <a:off x="5715000" y="1917700"/>
            <a:ext cx="762000" cy="787400"/>
          </a:xfrm>
          <a:prstGeom prst="roundRect">
            <a:avLst>
              <a:gd name="adj" fmla="val 16666"/>
            </a:avLst>
          </a:prstGeom>
          <a:noFill/>
          <a:ln w="25400" cap="flat" cmpd="sng">
            <a:noFill/>
            <a:prstDash val="solid"/>
            <a:round/>
          </a:ln>
        </p:spPr>
      </p:pic>
      <p:sp>
        <p:nvSpPr>
          <p:cNvPr id="11" name="AutoShape 11"/>
          <p:cNvSpPr/>
          <p:nvPr/>
        </p:nvSpPr>
        <p:spPr>
          <a:xfrm>
            <a:off x="4572000" y="28575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1E90FF"/>
                </a:solidFill>
                <a:latin typeface="Poppins"/>
                <a:ea typeface="Poppins"/>
                <a:cs typeface="Poppins"/>
                <a:sym typeface="Poppins"/>
              </a:rPr>
              <a:t>Quantum Cryptography</a:t>
            </a:r>
            <a:endParaRPr lang="en-US" sz="1100"/>
          </a:p>
        </p:txBody>
      </p:sp>
      <p:sp>
        <p:nvSpPr>
          <p:cNvPr id="12" name="AutoShape 12"/>
          <p:cNvSpPr/>
          <p:nvPr/>
        </p:nvSpPr>
        <p:spPr>
          <a:xfrm>
            <a:off x="4572000" y="3302000"/>
            <a:ext cx="3048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333"/>
              </a:lnSpc>
              <a:defRPr/>
            </a:pPr>
            <a:r>
              <a:rPr lang="en-US" sz="1400" b="0" i="0" u="none" strike="noStrike">
                <a:solidFill>
                  <a:srgbClr val="E6E6E6"/>
                </a:solidFill>
                <a:latin typeface="Poppins"/>
                <a:ea typeface="Poppins"/>
                <a:cs typeface="Poppins"/>
                <a:sym typeface="Poppins"/>
              </a:rPr>
              <a:t>Creating unhackable communication networks for ultimate security by leveraging quantum principles.</a:t>
            </a:r>
            <a:endParaRPr lang="en-US" sz="1100"/>
          </a:p>
        </p:txBody>
      </p:sp>
      <p:sp>
        <p:nvSpPr>
          <p:cNvPr id="13" name="AutoShape 13"/>
          <p:cNvSpPr/>
          <p:nvPr/>
        </p:nvSpPr>
        <p:spPr>
          <a:xfrm>
            <a:off x="8128000" y="1651000"/>
            <a:ext cx="3302000" cy="3556000"/>
          </a:xfrm>
          <a:prstGeom prst="roundRect">
            <a:avLst>
              <a:gd name="adj" fmla="val 3846"/>
            </a:avLst>
          </a:prstGeom>
          <a:solidFill>
            <a:srgbClr val="FFFFFF">
              <a:alpha val="5000"/>
            </a:srgbClr>
          </a:solidFill>
          <a:ln w="12700" cap="flat" cmpd="sng">
            <a:solidFill>
              <a:srgbClr val="1E90FF">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7"/>
          <a:srcRect l="19325" r="19325"/>
          <a:stretch>
            <a:fillRect/>
          </a:stretch>
        </p:blipFill>
        <p:spPr>
          <a:xfrm>
            <a:off x="9372600" y="1905000"/>
            <a:ext cx="812800" cy="812800"/>
          </a:xfrm>
          <a:prstGeom prst="roundRect">
            <a:avLst>
              <a:gd name="adj" fmla="val 15625"/>
            </a:avLst>
          </a:prstGeom>
          <a:noFill/>
          <a:ln w="25400" cap="flat" cmpd="sng">
            <a:noFill/>
            <a:prstDash val="solid"/>
            <a:round/>
          </a:ln>
        </p:spPr>
      </p:pic>
      <p:sp>
        <p:nvSpPr>
          <p:cNvPr id="15" name="AutoShape 15"/>
          <p:cNvSpPr/>
          <p:nvPr/>
        </p:nvSpPr>
        <p:spPr>
          <a:xfrm>
            <a:off x="8255000" y="28575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1E90FF"/>
                </a:solidFill>
                <a:latin typeface="Poppins"/>
                <a:ea typeface="Poppins"/>
                <a:cs typeface="Poppins"/>
                <a:sym typeface="Poppins"/>
              </a:rPr>
              <a:t>Quantum Sensors</a:t>
            </a:r>
            <a:endParaRPr lang="en-US" sz="1100"/>
          </a:p>
        </p:txBody>
      </p:sp>
      <p:sp>
        <p:nvSpPr>
          <p:cNvPr id="16" name="AutoShape 16"/>
          <p:cNvSpPr/>
          <p:nvPr/>
        </p:nvSpPr>
        <p:spPr>
          <a:xfrm>
            <a:off x="8255000" y="3302000"/>
            <a:ext cx="3048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333"/>
              </a:lnSpc>
              <a:defRPr/>
            </a:pPr>
            <a:r>
              <a:rPr lang="en-US" sz="1400" b="0" i="0" u="none" strike="noStrike">
                <a:solidFill>
                  <a:srgbClr val="E6E6E6"/>
                </a:solidFill>
                <a:latin typeface="Poppins"/>
                <a:ea typeface="Poppins"/>
                <a:cs typeface="Poppins"/>
                <a:sym typeface="Poppins"/>
              </a:rPr>
              <a:t>Enabling ultra-precise measurements in medicine, navigation, and fundamental scientific research.</a:t>
            </a:r>
            <a:endParaRPr lang="en-US" sz="1100"/>
          </a:p>
        </p:txBody>
      </p:sp>
      <p:sp>
        <p:nvSpPr>
          <p:cNvPr id="17" name="AutoShape 17"/>
          <p:cNvSpPr/>
          <p:nvPr/>
        </p:nvSpPr>
        <p:spPr>
          <a:xfrm>
            <a:off x="0" y="6807200"/>
            <a:ext cx="12192000" cy="50800"/>
          </a:xfrm>
          <a:prstGeom prst="roundRect">
            <a:avLst>
              <a:gd name="adj" fmla="val 0"/>
            </a:avLst>
          </a:prstGeom>
          <a:gradFill rotWithShape="1">
            <a:gsLst>
              <a:gs pos="0">
                <a:srgbClr val="0D1B2A">
                  <a:alpha val="100000"/>
                </a:srgbClr>
              </a:gs>
              <a:gs pos="50000">
                <a:srgbClr val="1E90FF">
                  <a:alpha val="100000"/>
                </a:srgbClr>
              </a:gs>
              <a:gs pos="100000">
                <a:srgbClr val="0D1B2A">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B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D1B2A">
              <a:alpha val="9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Future Implications &amp; Ethical Considerations</a:t>
            </a:r>
            <a:endParaRPr lang="en-US" sz="1100"/>
          </a:p>
        </p:txBody>
      </p:sp>
      <p:sp>
        <p:nvSpPr>
          <p:cNvPr id="5" name="AutoShape 5"/>
          <p:cNvSpPr/>
          <p:nvPr/>
        </p:nvSpPr>
        <p:spPr>
          <a:xfrm>
            <a:off x="762000" y="1524000"/>
            <a:ext cx="6604000" cy="1143000"/>
          </a:xfrm>
          <a:prstGeom prst="roundRect">
            <a:avLst>
              <a:gd name="adj" fmla="val 11111"/>
            </a:avLst>
          </a:prstGeom>
          <a:solidFill>
            <a:srgbClr val="FFFFFF">
              <a:alpha val="5000"/>
            </a:srgbClr>
          </a:solidFill>
          <a:ln w="12700" cap="flat" cmpd="sng">
            <a:solidFill>
              <a:srgbClr val="1E90FF">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892300"/>
            <a:ext cx="406400" cy="406400"/>
          </a:xfrm>
          <a:prstGeom prst="rect">
            <a:avLst/>
          </a:prstGeom>
        </p:spPr>
      </p:pic>
      <p:sp>
        <p:nvSpPr>
          <p:cNvPr id="7" name="AutoShape 7"/>
          <p:cNvSpPr/>
          <p:nvPr/>
        </p:nvSpPr>
        <p:spPr>
          <a:xfrm>
            <a:off x="1587500" y="1714500"/>
            <a:ext cx="508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E90FF"/>
                </a:solidFill>
                <a:latin typeface="Poppins"/>
                <a:ea typeface="Poppins"/>
                <a:cs typeface="Poppins"/>
                <a:sym typeface="Poppins"/>
              </a:rPr>
              <a:t>Hype vs. Reality</a:t>
            </a:r>
            <a:endParaRPr lang="en-US" sz="1100"/>
          </a:p>
        </p:txBody>
      </p:sp>
      <p:sp>
        <p:nvSpPr>
          <p:cNvPr id="8" name="AutoShape 8"/>
          <p:cNvSpPr/>
          <p:nvPr/>
        </p:nvSpPr>
        <p:spPr>
          <a:xfrm>
            <a:off x="1587500" y="2057400"/>
            <a:ext cx="546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DCDCDC"/>
                </a:solidFill>
                <a:latin typeface="Poppins"/>
                <a:ea typeface="Poppins"/>
                <a:cs typeface="Poppins"/>
                <a:sym typeface="Poppins"/>
              </a:rPr>
              <a:t>Avoid over-promising and focus on solid research to maintain credibility in the field.</a:t>
            </a:r>
            <a:endParaRPr lang="en-US" sz="1100"/>
          </a:p>
        </p:txBody>
      </p:sp>
      <p:sp>
        <p:nvSpPr>
          <p:cNvPr id="9" name="AutoShape 9"/>
          <p:cNvSpPr/>
          <p:nvPr/>
        </p:nvSpPr>
        <p:spPr>
          <a:xfrm>
            <a:off x="762000" y="2857500"/>
            <a:ext cx="6604000" cy="1143000"/>
          </a:xfrm>
          <a:prstGeom prst="roundRect">
            <a:avLst>
              <a:gd name="adj" fmla="val 11111"/>
            </a:avLst>
          </a:prstGeom>
          <a:solidFill>
            <a:srgbClr val="FFFFFF">
              <a:alpha val="5000"/>
            </a:srgbClr>
          </a:solidFill>
          <a:ln w="12700" cap="flat" cmpd="sng">
            <a:solidFill>
              <a:srgbClr val="1E90FF">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3225800"/>
            <a:ext cx="406400" cy="406400"/>
          </a:xfrm>
          <a:prstGeom prst="rect">
            <a:avLst/>
          </a:prstGeom>
        </p:spPr>
      </p:pic>
      <p:sp>
        <p:nvSpPr>
          <p:cNvPr id="11" name="AutoShape 11"/>
          <p:cNvSpPr/>
          <p:nvPr/>
        </p:nvSpPr>
        <p:spPr>
          <a:xfrm>
            <a:off x="1587500" y="3048000"/>
            <a:ext cx="508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E90FF"/>
                </a:solidFill>
                <a:latin typeface="Poppins"/>
                <a:ea typeface="Poppins"/>
                <a:cs typeface="Poppins"/>
                <a:sym typeface="Poppins"/>
              </a:rPr>
              <a:t>Security Risks</a:t>
            </a:r>
            <a:endParaRPr lang="en-US" sz="1100"/>
          </a:p>
        </p:txBody>
      </p:sp>
      <p:sp>
        <p:nvSpPr>
          <p:cNvPr id="12" name="AutoShape 12"/>
          <p:cNvSpPr/>
          <p:nvPr/>
        </p:nvSpPr>
        <p:spPr>
          <a:xfrm>
            <a:off x="1587500" y="3390900"/>
            <a:ext cx="546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DCDCDC"/>
                </a:solidFill>
                <a:latin typeface="Poppins"/>
                <a:ea typeface="Poppins"/>
                <a:cs typeface="Poppins"/>
                <a:sym typeface="Poppins"/>
              </a:rPr>
              <a:t>Quantum computing could break current encryption standards, demanding new security protocols.</a:t>
            </a:r>
            <a:endParaRPr lang="en-US" sz="1100"/>
          </a:p>
        </p:txBody>
      </p:sp>
      <p:sp>
        <p:nvSpPr>
          <p:cNvPr id="13" name="AutoShape 13"/>
          <p:cNvSpPr/>
          <p:nvPr/>
        </p:nvSpPr>
        <p:spPr>
          <a:xfrm>
            <a:off x="762000" y="4191000"/>
            <a:ext cx="6604000" cy="1143000"/>
          </a:xfrm>
          <a:prstGeom prst="roundRect">
            <a:avLst>
              <a:gd name="adj" fmla="val 11111"/>
            </a:avLst>
          </a:prstGeom>
          <a:solidFill>
            <a:srgbClr val="FFFFFF">
              <a:alpha val="5000"/>
            </a:srgbClr>
          </a:solidFill>
          <a:ln w="12700" cap="flat" cmpd="sng">
            <a:solidFill>
              <a:srgbClr val="1E90FF">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4559300"/>
            <a:ext cx="406400" cy="406400"/>
          </a:xfrm>
          <a:prstGeom prst="rect">
            <a:avLst/>
          </a:prstGeom>
        </p:spPr>
      </p:pic>
      <p:sp>
        <p:nvSpPr>
          <p:cNvPr id="15" name="AutoShape 15"/>
          <p:cNvSpPr/>
          <p:nvPr/>
        </p:nvSpPr>
        <p:spPr>
          <a:xfrm>
            <a:off x="1587500" y="4381500"/>
            <a:ext cx="508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E90FF"/>
                </a:solidFill>
                <a:latin typeface="Poppins"/>
                <a:ea typeface="Poppins"/>
                <a:cs typeface="Poppins"/>
                <a:sym typeface="Poppins"/>
              </a:rPr>
              <a:t>Social Equity</a:t>
            </a:r>
            <a:endParaRPr lang="en-US" sz="1100"/>
          </a:p>
        </p:txBody>
      </p:sp>
      <p:sp>
        <p:nvSpPr>
          <p:cNvPr id="16" name="AutoShape 16"/>
          <p:cNvSpPr/>
          <p:nvPr/>
        </p:nvSpPr>
        <p:spPr>
          <a:xfrm>
            <a:off x="1587500" y="4724400"/>
            <a:ext cx="546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DCDCDC"/>
                </a:solidFill>
                <a:latin typeface="Poppins"/>
                <a:ea typeface="Poppins"/>
                <a:cs typeface="Poppins"/>
                <a:sym typeface="Poppins"/>
              </a:rPr>
              <a:t>Ensure the benefits of quantum tech are accessible to all, bridging the digital divide.</a:t>
            </a:r>
            <a:endParaRPr lang="en-US" sz="1100"/>
          </a:p>
        </p:txBody>
      </p:sp>
      <p:pic>
        <p:nvPicPr>
          <p:cNvPr id="17" name="Picture 17"/>
          <p:cNvPicPr>
            <a:picLocks noChangeAspect="1"/>
          </p:cNvPicPr>
          <p:nvPr/>
        </p:nvPicPr>
        <p:blipFill>
          <a:blip r:embed="rId10"/>
          <a:srcRect/>
          <a:stretch>
            <a:fillRect/>
          </a:stretch>
        </p:blipFill>
        <p:spPr>
          <a:xfrm>
            <a:off x="8128000" y="1714500"/>
            <a:ext cx="3048000" cy="3048000"/>
          </a:xfrm>
          <a:prstGeom prst="roundRect">
            <a:avLst>
              <a:gd name="adj" fmla="val 8333"/>
            </a:avLst>
          </a:prstGeom>
          <a:noFill/>
          <a:ln w="25400" cap="flat" cmpd="sng">
            <a:solidFill>
              <a:srgbClr val="1E90FF">
                <a:alpha val="50000"/>
              </a:srgbClr>
            </a:solidFill>
            <a:prstDash val="solid"/>
            <a:round/>
          </a:ln>
          <a:effectLst>
            <a:outerShdw blurRad="254000" dist="127000" dir="5400000" algn="tl" rotWithShape="0">
              <a:srgbClr val="000000">
                <a:alpha val="50000"/>
              </a:srgbClr>
            </a:outerShdw>
          </a:effectLst>
        </p:spPr>
      </p:pic>
      <p:sp>
        <p:nvSpPr>
          <p:cNvPr id="18" name="AutoShape 18"/>
          <p:cNvSpPr/>
          <p:nvPr/>
        </p:nvSpPr>
        <p:spPr>
          <a:xfrm>
            <a:off x="762000" y="5842000"/>
            <a:ext cx="10668000" cy="25400"/>
          </a:xfrm>
          <a:prstGeom prst="roundRect">
            <a:avLst>
              <a:gd name="adj" fmla="val 0"/>
            </a:avLst>
          </a:prstGeom>
          <a:gradFill rotWithShape="1">
            <a:gsLst>
              <a:gs pos="0">
                <a:srgbClr val="1E90FF">
                  <a:alpha val="100000"/>
                </a:srgbClr>
              </a:gs>
              <a:gs pos="100000">
                <a:srgbClr val="1E90FF">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762000" y="5969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969696"/>
                </a:solidFill>
                <a:latin typeface="Poppins"/>
                <a:ea typeface="Poppins"/>
                <a:cs typeface="Poppins"/>
                <a:sym typeface="Poppins"/>
              </a:rPr>
              <a:t>Navigating the quantum revolution responsibly for a sustainable future.</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B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D1B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Conclusion &amp; Call to Action</a:t>
            </a:r>
            <a:endParaRPr lang="en-US" sz="1100"/>
          </a:p>
        </p:txBody>
      </p:sp>
      <p:sp>
        <p:nvSpPr>
          <p:cNvPr id="5" name="AutoShape 5"/>
          <p:cNvSpPr/>
          <p:nvPr/>
        </p:nvSpPr>
        <p:spPr>
          <a:xfrm>
            <a:off x="762000" y="1397000"/>
            <a:ext cx="10668000" cy="1016000"/>
          </a:xfrm>
          <a:prstGeom prst="roundRect">
            <a:avLst>
              <a:gd name="adj" fmla="val 12500"/>
            </a:avLst>
          </a:prstGeom>
          <a:solidFill>
            <a:srgbClr val="FFFFFF">
              <a:alpha val="8000"/>
            </a:srgbClr>
          </a:solidFill>
          <a:ln w="12700" cap="flat" cmpd="sng">
            <a:solidFill>
              <a:srgbClr val="1E90FF">
                <a:alpha val="4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1524000"/>
            <a:ext cx="152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E90FF"/>
                </a:solidFill>
                <a:latin typeface="Poppins"/>
                <a:ea typeface="Poppins"/>
                <a:cs typeface="Poppins"/>
                <a:sym typeface="Poppins"/>
              </a:rPr>
              <a:t>Conclusion</a:t>
            </a:r>
            <a:endParaRPr lang="en-US" sz="1100"/>
          </a:p>
        </p:txBody>
      </p:sp>
      <p:sp>
        <p:nvSpPr>
          <p:cNvPr id="7" name="AutoShape 7"/>
          <p:cNvSpPr/>
          <p:nvPr/>
        </p:nvSpPr>
        <p:spPr>
          <a:xfrm>
            <a:off x="1016000" y="1905000"/>
            <a:ext cx="990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EBEBEB"/>
                </a:solidFill>
                <a:latin typeface="Poppins"/>
                <a:ea typeface="Poppins"/>
                <a:cs typeface="Poppins"/>
                <a:sym typeface="Poppins"/>
              </a:rPr>
              <a:t>The 2025 Nobel Prize is a giant leap forward in our understanding of the quantum world, opening new frontiers for technology and humanity.</a:t>
            </a:r>
            <a:endParaRPr lang="en-US" sz="1100"/>
          </a:p>
        </p:txBody>
      </p:sp>
      <p:sp>
        <p:nvSpPr>
          <p:cNvPr id="8" name="AutoShape 8"/>
          <p:cNvSpPr/>
          <p:nvPr/>
        </p:nvSpPr>
        <p:spPr>
          <a:xfrm>
            <a:off x="762000" y="2667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E90FF"/>
                </a:solidFill>
                <a:latin typeface="Poppins"/>
                <a:ea typeface="Poppins"/>
                <a:cs typeface="Poppins"/>
                <a:sym typeface="Poppins"/>
              </a:rPr>
              <a:t>Next Steps: Call to Action</a:t>
            </a:r>
            <a:endParaRPr lang="en-US" sz="1100"/>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2000" y="3238500"/>
            <a:ext cx="406400" cy="406400"/>
          </a:xfrm>
          <a:prstGeom prst="rect">
            <a:avLst/>
          </a:prstGeom>
        </p:spPr>
      </p:pic>
      <p:sp>
        <p:nvSpPr>
          <p:cNvPr id="10" name="AutoShape 10"/>
          <p:cNvSpPr/>
          <p:nvPr/>
        </p:nvSpPr>
        <p:spPr>
          <a:xfrm>
            <a:off x="1333500" y="3175000"/>
            <a:ext cx="6985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Poppins"/>
                <a:ea typeface="Poppins"/>
                <a:cs typeface="Poppins"/>
                <a:sym typeface="Poppins"/>
              </a:rPr>
              <a:t>Support Fundamental Research</a:t>
            </a:r>
            <a:endParaRPr lang="en-US" sz="1100"/>
          </a:p>
        </p:txBody>
      </p:sp>
      <p:sp>
        <p:nvSpPr>
          <p:cNvPr id="11" name="AutoShape 11"/>
          <p:cNvSpPr/>
          <p:nvPr/>
        </p:nvSpPr>
        <p:spPr>
          <a:xfrm>
            <a:off x="1333500" y="3530600"/>
            <a:ext cx="698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8C8C8"/>
                </a:solidFill>
                <a:latin typeface="Poppins"/>
                <a:ea typeface="Poppins"/>
                <a:cs typeface="Poppins"/>
                <a:sym typeface="Poppins"/>
              </a:rPr>
              <a:t>Invest in quantum science to unlock its full potential for future generations.</a:t>
            </a:r>
            <a:endParaRPr lang="en-US" sz="1100"/>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62000" y="4127500"/>
            <a:ext cx="406400" cy="406400"/>
          </a:xfrm>
          <a:prstGeom prst="rect">
            <a:avLst/>
          </a:prstGeom>
        </p:spPr>
      </p:pic>
      <p:sp>
        <p:nvSpPr>
          <p:cNvPr id="13" name="AutoShape 13"/>
          <p:cNvSpPr/>
          <p:nvPr/>
        </p:nvSpPr>
        <p:spPr>
          <a:xfrm>
            <a:off x="1333500" y="4064000"/>
            <a:ext cx="6985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Poppins"/>
                <a:ea typeface="Poppins"/>
                <a:cs typeface="Poppins"/>
                <a:sym typeface="Poppins"/>
              </a:rPr>
              <a:t>Establish Ethical Guidelines</a:t>
            </a:r>
            <a:endParaRPr lang="en-US" sz="1100"/>
          </a:p>
        </p:txBody>
      </p:sp>
      <p:sp>
        <p:nvSpPr>
          <p:cNvPr id="14" name="AutoShape 14"/>
          <p:cNvSpPr/>
          <p:nvPr/>
        </p:nvSpPr>
        <p:spPr>
          <a:xfrm>
            <a:off x="1333500" y="4419600"/>
            <a:ext cx="698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8C8C8"/>
                </a:solidFill>
                <a:latin typeface="Poppins"/>
                <a:ea typeface="Poppins"/>
                <a:cs typeface="Poppins"/>
                <a:sym typeface="Poppins"/>
              </a:rPr>
              <a:t>Create frameworks to ensure responsible development and application of quantum tech.</a:t>
            </a:r>
            <a:endParaRPr lang="en-US" sz="1100"/>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62000" y="5016500"/>
            <a:ext cx="406400" cy="406400"/>
          </a:xfrm>
          <a:prstGeom prst="rect">
            <a:avLst/>
          </a:prstGeom>
        </p:spPr>
      </p:pic>
      <p:sp>
        <p:nvSpPr>
          <p:cNvPr id="16" name="AutoShape 16"/>
          <p:cNvSpPr/>
          <p:nvPr/>
        </p:nvSpPr>
        <p:spPr>
          <a:xfrm>
            <a:off x="1333500" y="4953000"/>
            <a:ext cx="6985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Poppins"/>
                <a:ea typeface="Poppins"/>
                <a:cs typeface="Poppins"/>
                <a:sym typeface="Poppins"/>
              </a:rPr>
              <a:t>Foster Public Understanding</a:t>
            </a:r>
            <a:endParaRPr lang="en-US" sz="1100"/>
          </a:p>
        </p:txBody>
      </p:sp>
      <p:sp>
        <p:nvSpPr>
          <p:cNvPr id="17" name="AutoShape 17"/>
          <p:cNvSpPr/>
          <p:nvPr/>
        </p:nvSpPr>
        <p:spPr>
          <a:xfrm>
            <a:off x="1333500" y="5308600"/>
            <a:ext cx="698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8C8C8"/>
                </a:solidFill>
                <a:latin typeface="Poppins"/>
                <a:ea typeface="Poppins"/>
                <a:cs typeface="Poppins"/>
                <a:sym typeface="Poppins"/>
              </a:rPr>
              <a:t>Educate the public to bridge the knowledge gap and build trust in new technologies.</a:t>
            </a:r>
            <a:endParaRPr lang="en-US" sz="1100"/>
          </a:p>
        </p:txBody>
      </p:sp>
      <p:pic>
        <p:nvPicPr>
          <p:cNvPr id="18" name="Picture 18"/>
          <p:cNvPicPr>
            <a:picLocks noChangeAspect="1"/>
          </p:cNvPicPr>
          <p:nvPr/>
        </p:nvPicPr>
        <p:blipFill>
          <a:blip r:embed="rId10"/>
          <a:srcRect t="17" b="17"/>
          <a:stretch>
            <a:fillRect/>
          </a:stretch>
        </p:blipFill>
        <p:spPr>
          <a:xfrm>
            <a:off x="9144000" y="3175000"/>
            <a:ext cx="1714500" cy="2540000"/>
          </a:xfrm>
          <a:prstGeom prst="roundRect">
            <a:avLst>
              <a:gd name="adj" fmla="val 11111"/>
            </a:avLst>
          </a:prstGeom>
          <a:noFill/>
          <a:ln w="25400" cap="flat" cmpd="sng">
            <a:solidFill>
              <a:srgbClr val="1E90FF">
                <a:alpha val="60000"/>
              </a:srgbClr>
            </a:solidFill>
            <a:prstDash val="solid"/>
            <a:round/>
          </a:ln>
          <a:effectLst>
            <a:outerShdw blurRad="127000" dist="63500" dir="2700000" algn="tl" rotWithShape="0">
              <a:srgbClr val="000000">
                <a:alpha val="50000"/>
              </a:srgbClr>
            </a:outerShdw>
          </a:effectLst>
        </p:spPr>
      </p:pic>
      <p:sp>
        <p:nvSpPr>
          <p:cNvPr id="19" name="AutoShape 19"/>
          <p:cNvSpPr/>
          <p:nvPr/>
        </p:nvSpPr>
        <p:spPr>
          <a:xfrm>
            <a:off x="762000" y="5969000"/>
            <a:ext cx="10668000" cy="25400"/>
          </a:xfrm>
          <a:prstGeom prst="roundRect">
            <a:avLst>
              <a:gd name="adj" fmla="val 0"/>
            </a:avLst>
          </a:prstGeom>
          <a:gradFill rotWithShape="1">
            <a:gsLst>
              <a:gs pos="0">
                <a:srgbClr val="1E90FF">
                  <a:alpha val="100000"/>
                </a:srgbClr>
              </a:gs>
              <a:gs pos="100000">
                <a:srgbClr val="1E90FF">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B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177800" y="0"/>
            <a:ext cx="12192000" cy="6858000"/>
          </a:xfrm>
          <a:prstGeom prst="roundRect">
            <a:avLst>
              <a:gd name="adj" fmla="val 0"/>
            </a:avLst>
          </a:prstGeom>
          <a:solidFill>
            <a:srgbClr val="0D1B2A">
              <a:alpha val="9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FFFFFF"/>
                </a:solidFill>
                <a:latin typeface="Poppins"/>
                <a:ea typeface="Poppins"/>
                <a:cs typeface="Poppins"/>
                <a:sym typeface="Poppins"/>
              </a:rPr>
              <a:t>Deep Dive: What is Quantum Tunneling?</a:t>
            </a:r>
            <a:endParaRPr lang="en-US" sz="1100" dirty="0"/>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2000" y="1524000"/>
            <a:ext cx="304800" cy="304800"/>
          </a:xfrm>
          <a:prstGeom prst="rect">
            <a:avLst/>
          </a:prstGeom>
        </p:spPr>
      </p:pic>
      <p:sp>
        <p:nvSpPr>
          <p:cNvPr id="6" name="AutoShape 6"/>
          <p:cNvSpPr/>
          <p:nvPr/>
        </p:nvSpPr>
        <p:spPr>
          <a:xfrm>
            <a:off x="1193800" y="14732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1E90FF"/>
                </a:solidFill>
                <a:latin typeface="Poppins"/>
                <a:ea typeface="Poppins"/>
                <a:cs typeface="Poppins"/>
                <a:sym typeface="Poppins"/>
              </a:rPr>
              <a:t>Classical vs. Quantum</a:t>
            </a:r>
            <a:endParaRPr lang="en-US" sz="1100" dirty="0"/>
          </a:p>
        </p:txBody>
      </p:sp>
      <p:sp>
        <p:nvSpPr>
          <p:cNvPr id="7" name="AutoShape 7"/>
          <p:cNvSpPr/>
          <p:nvPr/>
        </p:nvSpPr>
        <p:spPr>
          <a:xfrm>
            <a:off x="762000" y="1905000"/>
            <a:ext cx="5334000" cy="1143000"/>
          </a:xfrm>
          <a:prstGeom prst="rect">
            <a:avLst/>
          </a:prstGeom>
          <a:noFill/>
          <a:ln w="12700" cap="flat" cmpd="sng">
            <a:noFill/>
            <a:prstDash val="solid"/>
            <a:round/>
          </a:ln>
        </p:spPr>
        <p:txBody>
          <a:bodyPr vert="horz" wrap="square" lIns="0" tIns="0" rIns="0" bIns="0" rtlCol="0" anchor="ctr" anchorCtr="0"/>
          <a:lstStyle/>
          <a:p>
            <a:pPr>
              <a:lnSpc>
                <a:spcPct val="108333"/>
              </a:lnSpc>
              <a:defRPr/>
            </a:pPr>
            <a:r>
              <a:rPr lang="en-US" dirty="0">
                <a:solidFill>
                  <a:srgbClr val="E5E7EB"/>
                </a:solidFill>
                <a:latin typeface="Poppins"/>
                <a:ea typeface="Poppins"/>
                <a:cs typeface="Poppins"/>
                <a:sym typeface="Poppins"/>
              </a:rPr>
              <a:t>In normal physics, a ball can’t climb over a hill if it doesn’t have enough energy. </a:t>
            </a:r>
          </a:p>
          <a:p>
            <a:pPr>
              <a:lnSpc>
                <a:spcPct val="108333"/>
              </a:lnSpc>
              <a:defRPr/>
            </a:pPr>
            <a:r>
              <a:rPr lang="en-US" dirty="0">
                <a:solidFill>
                  <a:srgbClr val="E5E7EB"/>
                </a:solidFill>
                <a:latin typeface="Poppins"/>
                <a:ea typeface="Poppins"/>
                <a:cs typeface="Poppins"/>
                <a:sym typeface="Poppins"/>
              </a:rPr>
              <a:t> In quantum physics, tiny particles can "tunnel" right through barriers—even when they don’t have the energy to go over them.</a:t>
            </a:r>
            <a:endParaRPr lang="en-US" sz="1100" dirty="0"/>
          </a:p>
        </p:txBody>
      </p:sp>
      <p:pic>
        <p:nvPicPr>
          <p:cNvPr id="8" name="Picture 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62000" y="3175000"/>
            <a:ext cx="304800" cy="304800"/>
          </a:xfrm>
          <a:prstGeom prst="rect">
            <a:avLst/>
          </a:prstGeom>
        </p:spPr>
      </p:pic>
      <p:sp>
        <p:nvSpPr>
          <p:cNvPr id="9" name="AutoShape 9"/>
          <p:cNvSpPr/>
          <p:nvPr/>
        </p:nvSpPr>
        <p:spPr>
          <a:xfrm>
            <a:off x="1193800" y="31242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1E90FF"/>
                </a:solidFill>
                <a:latin typeface="Poppins"/>
                <a:ea typeface="Poppins"/>
                <a:cs typeface="Poppins"/>
                <a:sym typeface="Poppins"/>
              </a:rPr>
              <a:t>The Nobel-Winning Experiment</a:t>
            </a:r>
            <a:endParaRPr lang="en-US" sz="1100" dirty="0"/>
          </a:p>
        </p:txBody>
      </p:sp>
      <p:sp>
        <p:nvSpPr>
          <p:cNvPr id="10" name="AutoShape 10"/>
          <p:cNvSpPr/>
          <p:nvPr/>
        </p:nvSpPr>
        <p:spPr>
          <a:xfrm>
            <a:off x="762000" y="3556000"/>
            <a:ext cx="5334000" cy="1143000"/>
          </a:xfrm>
          <a:prstGeom prst="rect">
            <a:avLst/>
          </a:prstGeom>
          <a:noFill/>
          <a:ln w="12700" cap="flat" cmpd="sng">
            <a:noFill/>
            <a:prstDash val="solid"/>
            <a:round/>
          </a:ln>
        </p:spPr>
        <p:txBody>
          <a:bodyPr vert="horz" wrap="square" lIns="0" tIns="0" rIns="0" bIns="0" rtlCol="0" anchor="ctr" anchorCtr="0"/>
          <a:lstStyle/>
          <a:p>
            <a:pPr>
              <a:lnSpc>
                <a:spcPct val="108333"/>
              </a:lnSpc>
              <a:defRPr/>
            </a:pPr>
            <a:r>
              <a:rPr lang="en-US" dirty="0">
                <a:solidFill>
                  <a:srgbClr val="E5E7EB"/>
                </a:solidFill>
                <a:latin typeface="Poppins"/>
                <a:ea typeface="Poppins"/>
                <a:cs typeface="Poppins"/>
                <a:sym typeface="Poppins"/>
              </a:rPr>
              <a:t>Scientists built a big superconducting circuit that showed quantum tunneling. </a:t>
            </a:r>
          </a:p>
          <a:p>
            <a:pPr>
              <a:lnSpc>
                <a:spcPct val="108333"/>
              </a:lnSpc>
              <a:defRPr/>
            </a:pPr>
            <a:r>
              <a:rPr lang="en-US" dirty="0">
                <a:solidFill>
                  <a:srgbClr val="E5E7EB"/>
                </a:solidFill>
                <a:latin typeface="Poppins"/>
                <a:ea typeface="Poppins"/>
                <a:cs typeface="Poppins"/>
                <a:sym typeface="Poppins"/>
              </a:rPr>
              <a:t>This proved quantum rules work not just for tiny particles, but for larger systems too.</a:t>
            </a:r>
            <a:endParaRPr lang="en-US" sz="1100" dirty="0"/>
          </a:p>
        </p:txBody>
      </p:sp>
      <p:pic>
        <p:nvPicPr>
          <p:cNvPr id="11" name="Picture 11"/>
          <p:cNvPicPr>
            <a:picLocks noChangeAspect="1"/>
          </p:cNvPicPr>
          <p:nvPr/>
        </p:nvPicPr>
        <p:blipFill>
          <a:blip r:embed="rId8"/>
          <a:srcRect/>
          <a:stretch>
            <a:fillRect/>
          </a:stretch>
        </p:blipFill>
        <p:spPr>
          <a:xfrm>
            <a:off x="7620000" y="1651000"/>
            <a:ext cx="2794000" cy="2794000"/>
          </a:xfrm>
          <a:prstGeom prst="roundRect">
            <a:avLst>
              <a:gd name="adj" fmla="val 4545"/>
            </a:avLst>
          </a:prstGeom>
          <a:noFill/>
          <a:ln w="25400" cap="flat" cmpd="sng">
            <a:solidFill>
              <a:srgbClr val="1E90FF">
                <a:alpha val="100000"/>
              </a:srgbClr>
            </a:solidFill>
            <a:prstDash val="solid"/>
            <a:round/>
          </a:ln>
          <a:effectLst>
            <a:outerShdw blurRad="190500" dist="101600" dir="5400000" algn="tl" rotWithShape="0">
              <a:srgbClr val="1E90FF">
                <a:alpha val="40000"/>
              </a:srgbClr>
            </a:outerShdw>
          </a:effectLst>
        </p:spPr>
      </p:pic>
      <p:sp>
        <p:nvSpPr>
          <p:cNvPr id="12" name="AutoShape 12"/>
          <p:cNvSpPr/>
          <p:nvPr/>
        </p:nvSpPr>
        <p:spPr>
          <a:xfrm>
            <a:off x="7620000" y="45720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9CA3AF"/>
                </a:solidFill>
                <a:latin typeface="Poppins"/>
                <a:ea typeface="Poppins"/>
                <a:cs typeface="Poppins"/>
                <a:sym typeface="Poppins"/>
              </a:rPr>
              <a:t>Quantum Tunneling Visualization</a:t>
            </a:r>
            <a:endParaRPr lang="en-US" sz="1100"/>
          </a:p>
        </p:txBody>
      </p:sp>
      <p:sp>
        <p:nvSpPr>
          <p:cNvPr id="13" name="AutoShape 13"/>
          <p:cNvSpPr/>
          <p:nvPr/>
        </p:nvSpPr>
        <p:spPr>
          <a:xfrm>
            <a:off x="762000" y="5842000"/>
            <a:ext cx="10668000" cy="25400"/>
          </a:xfrm>
          <a:prstGeom prst="roundRect">
            <a:avLst>
              <a:gd name="adj" fmla="val 0"/>
            </a:avLst>
          </a:prstGeom>
          <a:gradFill rotWithShape="1">
            <a:gsLst>
              <a:gs pos="0">
                <a:srgbClr val="1E90FF">
                  <a:alpha val="100000"/>
                </a:srgbClr>
              </a:gs>
              <a:gs pos="100000">
                <a:srgbClr val="1E90FF">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14" name="Rectangle 1">
            <a:extLst>
              <a:ext uri="{FF2B5EF4-FFF2-40B4-BE49-F238E27FC236}">
                <a16:creationId xmlns:a16="http://schemas.microsoft.com/office/drawing/2014/main" id="{52FD4A82-2523-E653-4864-905D068DA20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200" b="0" i="0" u="none" strike="noStrike" cap="none" normalizeH="0" baseline="0">
              <a:ln>
                <a:noFill/>
              </a:ln>
              <a:solidFill>
                <a:schemeClr val="tx1"/>
              </a:solidFill>
              <a:effectLst/>
              <a:latin typeface="Arial" panose="020B0604020202020204" pitchFamily="34" charset="0"/>
              <a:ea typeface="ui-sans-serif"/>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a:ln>
                  <a:noFill/>
                </a:ln>
                <a:solidFill>
                  <a:schemeClr val="tx1"/>
                </a:solidFill>
                <a:effectLst/>
                <a:latin typeface="Arial" panose="020B0604020202020204" pitchFamily="34" charset="0"/>
                <a:ea typeface="ui-sans-serif"/>
              </a:rPr>
              <a:t>In normal physics, a ball can’t climb over a hill if it doesn’t have enough energy.</a:t>
            </a:r>
            <a:r>
              <a:rPr kumimoji="0" lang="zh-CN" altLang="zh-CN" sz="600" b="0" i="0" u="none" strike="noStrike" cap="none" normalizeH="0" baseline="0">
                <a:ln>
                  <a:noFill/>
                </a:ln>
                <a:solidFill>
                  <a:schemeClr val="tx1"/>
                </a:solidFill>
                <a:effectLst/>
                <a:latin typeface="Arial" panose="020B0604020202020204" pitchFamily="34" charset="0"/>
              </a:rPr>
              <a:t> </a:t>
            </a:r>
            <a:endParaRPr kumimoji="0" lang="zh-CN" altLang="zh-CN" sz="1200" b="0" i="0" u="none" strike="noStrike" cap="none" normalizeH="0" baseline="0">
              <a:ln>
                <a:noFill/>
              </a:ln>
              <a:solidFill>
                <a:schemeClr val="tx1"/>
              </a:solidFill>
              <a:effectLst/>
              <a:latin typeface="Arial" panose="020B0604020202020204" pitchFamily="34" charset="0"/>
              <a:ea typeface="ui-sans-serif"/>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a:ln>
                  <a:noFill/>
                </a:ln>
                <a:solidFill>
                  <a:schemeClr val="tx1"/>
                </a:solidFill>
                <a:effectLst/>
                <a:latin typeface="Arial" panose="020B0604020202020204" pitchFamily="34" charset="0"/>
                <a:ea typeface="ui-sans-serif"/>
              </a:rPr>
              <a:t>In quantum physics, tiny particles can "tunnel" right through barriers—even when they don’t have the energy to go over them.</a:t>
            </a:r>
            <a:r>
              <a:rPr kumimoji="0" lang="zh-CN" altLang="zh-CN" sz="600" b="0" i="0" u="none" strike="noStrike" cap="none" normalizeH="0" baseline="0">
                <a:ln>
                  <a:noFill/>
                </a:ln>
                <a:solidFill>
                  <a:schemeClr val="tx1"/>
                </a:solidFill>
                <a:effectLst/>
                <a:latin typeface="Arial" panose="020B0604020202020204" pitchFamily="34" charset="0"/>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5" name="Rectangle 2">
            <a:extLst>
              <a:ext uri="{FF2B5EF4-FFF2-40B4-BE49-F238E27FC236}">
                <a16:creationId xmlns:a16="http://schemas.microsoft.com/office/drawing/2014/main" id="{5CA4A784-1F63-DD0B-E596-447DAC329041}"/>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200" b="0" i="0" u="none" strike="noStrike" cap="none" normalizeH="0" baseline="0">
              <a:ln>
                <a:noFill/>
              </a:ln>
              <a:solidFill>
                <a:schemeClr val="tx1"/>
              </a:solidFill>
              <a:effectLst/>
              <a:latin typeface="Arial" panose="020B0604020202020204" pitchFamily="34" charset="0"/>
              <a:ea typeface="ui-sans-serif"/>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a:ln>
                  <a:noFill/>
                </a:ln>
                <a:solidFill>
                  <a:schemeClr val="tx1"/>
                </a:solidFill>
                <a:effectLst/>
                <a:latin typeface="Arial" panose="020B0604020202020204" pitchFamily="34" charset="0"/>
                <a:ea typeface="ui-sans-serif"/>
              </a:rPr>
              <a:t>In normal physics, a ball can’t climb over a hill if it doesn’t have enough energy.</a:t>
            </a:r>
            <a:r>
              <a:rPr kumimoji="0" lang="zh-CN" altLang="zh-CN" sz="600" b="0" i="0" u="none" strike="noStrike" cap="none" normalizeH="0" baseline="0">
                <a:ln>
                  <a:noFill/>
                </a:ln>
                <a:solidFill>
                  <a:schemeClr val="tx1"/>
                </a:solidFill>
                <a:effectLst/>
                <a:latin typeface="Arial" panose="020B0604020202020204" pitchFamily="34" charset="0"/>
              </a:rPr>
              <a:t> </a:t>
            </a:r>
            <a:endParaRPr kumimoji="0" lang="zh-CN" altLang="zh-CN" sz="1200" b="0" i="0" u="none" strike="noStrike" cap="none" normalizeH="0" baseline="0">
              <a:ln>
                <a:noFill/>
              </a:ln>
              <a:solidFill>
                <a:schemeClr val="tx1"/>
              </a:solidFill>
              <a:effectLst/>
              <a:latin typeface="Arial" panose="020B0604020202020204" pitchFamily="34" charset="0"/>
              <a:ea typeface="ui-sans-serif"/>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a:ln>
                  <a:noFill/>
                </a:ln>
                <a:solidFill>
                  <a:schemeClr val="tx1"/>
                </a:solidFill>
                <a:effectLst/>
                <a:latin typeface="Arial" panose="020B0604020202020204" pitchFamily="34" charset="0"/>
                <a:ea typeface="ui-sans-serif"/>
              </a:rPr>
              <a:t>In quantum physics, tiny particles can "tunnel" right through barriers—even when they don’t have the energy to go over them.</a:t>
            </a:r>
            <a:r>
              <a:rPr kumimoji="0" lang="zh-CN" altLang="zh-CN" sz="600" b="0" i="0" u="none" strike="noStrike" cap="none" normalizeH="0" baseline="0">
                <a:ln>
                  <a:noFill/>
                </a:ln>
                <a:solidFill>
                  <a:schemeClr val="tx1"/>
                </a:solidFill>
                <a:effectLst/>
                <a:latin typeface="Arial" panose="020B0604020202020204" pitchFamily="34" charset="0"/>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6" name="Rectangle 3">
            <a:extLst>
              <a:ext uri="{FF2B5EF4-FFF2-40B4-BE49-F238E27FC236}">
                <a16:creationId xmlns:a16="http://schemas.microsoft.com/office/drawing/2014/main" id="{65AF7820-813D-5543-1BAB-44FFE3952C50}"/>
              </a:ext>
            </a:extLst>
          </p:cNvPr>
          <p:cNvSpPr>
            <a:spLocks noChangeArrowheads="1"/>
          </p:cNvSpPr>
          <p:nvPr/>
        </p:nvSpPr>
        <p:spPr bwMode="auto">
          <a:xfrm>
            <a:off x="304800" y="3048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200" b="0" i="0" u="none" strike="noStrike" cap="none" normalizeH="0" baseline="0">
              <a:ln>
                <a:noFill/>
              </a:ln>
              <a:solidFill>
                <a:schemeClr val="tx1"/>
              </a:solidFill>
              <a:effectLst/>
              <a:latin typeface="Arial" panose="020B0604020202020204" pitchFamily="34" charset="0"/>
              <a:ea typeface="ui-sans-serif"/>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a:ln>
                  <a:noFill/>
                </a:ln>
                <a:solidFill>
                  <a:schemeClr val="tx1"/>
                </a:solidFill>
                <a:effectLst/>
                <a:latin typeface="Arial" panose="020B0604020202020204" pitchFamily="34" charset="0"/>
                <a:ea typeface="ui-sans-serif"/>
              </a:rPr>
              <a:t>Scientists built a big superconducting circuit that showed quantum tunneling.</a:t>
            </a:r>
            <a:r>
              <a:rPr kumimoji="0" lang="zh-CN" altLang="zh-CN" sz="600" b="0" i="0" u="none" strike="noStrike" cap="none" normalizeH="0" baseline="0">
                <a:ln>
                  <a:noFill/>
                </a:ln>
                <a:solidFill>
                  <a:schemeClr val="tx1"/>
                </a:solidFill>
                <a:effectLst/>
                <a:latin typeface="Arial" panose="020B0604020202020204" pitchFamily="34" charset="0"/>
              </a:rPr>
              <a:t> </a:t>
            </a:r>
            <a:endParaRPr kumimoji="0" lang="zh-CN" altLang="zh-CN" sz="1200" b="0" i="0" u="none" strike="noStrike" cap="none" normalizeH="0" baseline="0">
              <a:ln>
                <a:noFill/>
              </a:ln>
              <a:solidFill>
                <a:schemeClr val="tx1"/>
              </a:solidFill>
              <a:effectLst/>
              <a:latin typeface="Arial" panose="020B0604020202020204" pitchFamily="34" charset="0"/>
              <a:ea typeface="ui-sans-serif"/>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a:ln>
                  <a:noFill/>
                </a:ln>
                <a:solidFill>
                  <a:schemeClr val="tx1"/>
                </a:solidFill>
                <a:effectLst/>
                <a:latin typeface="Arial" panose="020B0604020202020204" pitchFamily="34" charset="0"/>
                <a:ea typeface="ui-sans-serif"/>
              </a:rPr>
              <a:t>This proved quantum rules work not just for tiny particles, but for larger systems too.</a:t>
            </a:r>
            <a:r>
              <a:rPr kumimoji="0" lang="zh-CN" altLang="zh-CN" sz="600" b="0" i="0" u="none" strike="noStrike" cap="none" normalizeH="0" baseline="0">
                <a:ln>
                  <a:noFill/>
                </a:ln>
                <a:solidFill>
                  <a:schemeClr val="tx1"/>
                </a:solidFill>
                <a:effectLst/>
                <a:latin typeface="Arial" panose="020B0604020202020204" pitchFamily="34" charset="0"/>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B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D1B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FFFFFF"/>
                </a:solidFill>
                <a:latin typeface="Poppins"/>
                <a:ea typeface="Poppins"/>
                <a:cs typeface="Poppins"/>
                <a:sym typeface="Poppins"/>
              </a:rPr>
              <a:t>Case Study: Quantum Computing in Drug Discovery</a:t>
            </a:r>
            <a:endParaRPr lang="en-US" sz="1100" dirty="0"/>
          </a:p>
        </p:txBody>
      </p:sp>
      <p:sp>
        <p:nvSpPr>
          <p:cNvPr id="5" name="AutoShape 5"/>
          <p:cNvSpPr/>
          <p:nvPr/>
        </p:nvSpPr>
        <p:spPr>
          <a:xfrm>
            <a:off x="762000" y="1524000"/>
            <a:ext cx="5334000" cy="1409700"/>
          </a:xfrm>
          <a:prstGeom prst="roundRect">
            <a:avLst>
              <a:gd name="adj" fmla="val 10000"/>
            </a:avLst>
          </a:prstGeom>
          <a:solidFill>
            <a:srgbClr val="FFFFFF">
              <a:alpha val="5000"/>
            </a:srgbClr>
          </a:solidFill>
          <a:ln w="12700" cap="flat" cmpd="sng">
            <a:solidFill>
              <a:srgbClr val="1E90FF">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714500"/>
            <a:ext cx="406400" cy="406400"/>
          </a:xfrm>
          <a:prstGeom prst="rect">
            <a:avLst/>
          </a:prstGeom>
        </p:spPr>
      </p:pic>
      <p:sp>
        <p:nvSpPr>
          <p:cNvPr id="7" name="AutoShape 7"/>
          <p:cNvSpPr/>
          <p:nvPr/>
        </p:nvSpPr>
        <p:spPr>
          <a:xfrm>
            <a:off x="1524000" y="1676400"/>
            <a:ext cx="444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1E90FF"/>
                </a:solidFill>
                <a:latin typeface="Poppins"/>
                <a:ea typeface="Poppins"/>
                <a:cs typeface="Poppins"/>
                <a:sym typeface="Poppins"/>
              </a:rPr>
              <a:t>The Computational Challenge (Problem)</a:t>
            </a:r>
            <a:endParaRPr lang="en-US" sz="1100" dirty="0"/>
          </a:p>
        </p:txBody>
      </p:sp>
      <p:sp>
        <p:nvSpPr>
          <p:cNvPr id="8" name="AutoShape 8"/>
          <p:cNvSpPr/>
          <p:nvPr/>
        </p:nvSpPr>
        <p:spPr>
          <a:xfrm>
            <a:off x="1524000" y="2254250"/>
            <a:ext cx="4318000" cy="635000"/>
          </a:xfrm>
          <a:prstGeom prst="rect">
            <a:avLst/>
          </a:prstGeom>
          <a:noFill/>
          <a:ln w="12700" cap="flat" cmpd="sng">
            <a:noFill/>
            <a:prstDash val="solid"/>
            <a:round/>
          </a:ln>
        </p:spPr>
        <p:txBody>
          <a:bodyPr vert="horz" wrap="square" lIns="0" tIns="0" rIns="0" bIns="0" rtlCol="0" anchor="ctr" anchorCtr="0"/>
          <a:lstStyle/>
          <a:p>
            <a:pPr>
              <a:defRPr/>
            </a:pPr>
            <a:r>
              <a:rPr lang="en-US" dirty="0">
                <a:solidFill>
                  <a:srgbClr val="FFFFFF">
                    <a:alpha val="90196"/>
                  </a:srgbClr>
                </a:solidFill>
                <a:latin typeface="Poppins"/>
                <a:ea typeface="Poppins"/>
                <a:cs typeface="Poppins"/>
                <a:sym typeface="Poppins"/>
              </a:rPr>
              <a:t>Making new drugs means simulating how molecules work together. • Classical computers are too slow—this can take years.</a:t>
            </a:r>
            <a:endParaRPr lang="en-US" sz="1100" dirty="0"/>
          </a:p>
        </p:txBody>
      </p:sp>
      <p:sp>
        <p:nvSpPr>
          <p:cNvPr id="9" name="AutoShape 9"/>
          <p:cNvSpPr/>
          <p:nvPr/>
        </p:nvSpPr>
        <p:spPr>
          <a:xfrm>
            <a:off x="762000" y="2984500"/>
            <a:ext cx="5334000" cy="1270000"/>
          </a:xfrm>
          <a:prstGeom prst="roundRect">
            <a:avLst>
              <a:gd name="adj" fmla="val 10000"/>
            </a:avLst>
          </a:prstGeom>
          <a:solidFill>
            <a:srgbClr val="FFFFFF">
              <a:alpha val="5000"/>
            </a:srgbClr>
          </a:solidFill>
          <a:ln w="12700" cap="flat" cmpd="sng">
            <a:solidFill>
              <a:srgbClr val="1E90FF">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3175000"/>
            <a:ext cx="406400" cy="406400"/>
          </a:xfrm>
          <a:prstGeom prst="rect">
            <a:avLst/>
          </a:prstGeom>
        </p:spPr>
      </p:pic>
      <p:sp>
        <p:nvSpPr>
          <p:cNvPr id="11" name="AutoShape 11"/>
          <p:cNvSpPr/>
          <p:nvPr/>
        </p:nvSpPr>
        <p:spPr>
          <a:xfrm>
            <a:off x="1524000" y="3136900"/>
            <a:ext cx="444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1E90FF"/>
                </a:solidFill>
                <a:latin typeface="Poppins"/>
                <a:ea typeface="Poppins"/>
                <a:cs typeface="Poppins"/>
                <a:sym typeface="Poppins"/>
              </a:rPr>
              <a:t>Quantum Advantage (Solution)</a:t>
            </a:r>
            <a:endParaRPr lang="en-US" sz="1100" dirty="0"/>
          </a:p>
        </p:txBody>
      </p:sp>
      <p:sp>
        <p:nvSpPr>
          <p:cNvPr id="12" name="AutoShape 12"/>
          <p:cNvSpPr/>
          <p:nvPr/>
        </p:nvSpPr>
        <p:spPr>
          <a:xfrm>
            <a:off x="1524000" y="3492500"/>
            <a:ext cx="4318000" cy="635000"/>
          </a:xfrm>
          <a:prstGeom prst="rect">
            <a:avLst/>
          </a:prstGeom>
          <a:noFill/>
          <a:ln w="12700" cap="flat" cmpd="sng">
            <a:noFill/>
            <a:prstDash val="solid"/>
            <a:round/>
          </a:ln>
        </p:spPr>
        <p:txBody>
          <a:bodyPr vert="horz" wrap="square" lIns="0" tIns="0" rIns="0" bIns="0" rtlCol="0" anchor="ctr" anchorCtr="0"/>
          <a:lstStyle/>
          <a:p>
            <a:pPr>
              <a:defRPr/>
            </a:pPr>
            <a:r>
              <a:rPr lang="en-US" dirty="0">
                <a:solidFill>
                  <a:srgbClr val="FFFFFF">
                    <a:alpha val="90196"/>
                  </a:srgbClr>
                </a:solidFill>
                <a:latin typeface="Poppins"/>
                <a:ea typeface="Poppins"/>
                <a:cs typeface="Poppins"/>
                <a:sym typeface="Poppins"/>
              </a:rPr>
              <a:t>Quantum computers do this work much faster. • They can cut drug discovery time from years to just months.</a:t>
            </a:r>
            <a:endParaRPr lang="en-US" sz="1100" dirty="0"/>
          </a:p>
        </p:txBody>
      </p:sp>
      <p:sp>
        <p:nvSpPr>
          <p:cNvPr id="13" name="AutoShape 13"/>
          <p:cNvSpPr/>
          <p:nvPr/>
        </p:nvSpPr>
        <p:spPr>
          <a:xfrm>
            <a:off x="762000" y="4445000"/>
            <a:ext cx="5334000" cy="1270000"/>
          </a:xfrm>
          <a:prstGeom prst="roundRect">
            <a:avLst>
              <a:gd name="adj" fmla="val 10000"/>
            </a:avLst>
          </a:prstGeom>
          <a:solidFill>
            <a:srgbClr val="FFFFFF">
              <a:alpha val="5000"/>
            </a:srgbClr>
          </a:solidFill>
          <a:ln w="12700" cap="flat" cmpd="sng">
            <a:solidFill>
              <a:srgbClr val="1E90FF">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4635500"/>
            <a:ext cx="406400" cy="406400"/>
          </a:xfrm>
          <a:prstGeom prst="rect">
            <a:avLst/>
          </a:prstGeom>
        </p:spPr>
      </p:pic>
      <p:sp>
        <p:nvSpPr>
          <p:cNvPr id="15" name="AutoShape 15"/>
          <p:cNvSpPr/>
          <p:nvPr/>
        </p:nvSpPr>
        <p:spPr>
          <a:xfrm>
            <a:off x="1524000" y="4597400"/>
            <a:ext cx="444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1E90FF"/>
                </a:solidFill>
                <a:latin typeface="Poppins"/>
                <a:ea typeface="Poppins"/>
                <a:cs typeface="Poppins"/>
                <a:sym typeface="Poppins"/>
              </a:rPr>
              <a:t>Transforming Healthcare (Impact)</a:t>
            </a:r>
            <a:endParaRPr lang="en-US" sz="1100" dirty="0"/>
          </a:p>
        </p:txBody>
      </p:sp>
      <p:sp>
        <p:nvSpPr>
          <p:cNvPr id="16" name="AutoShape 16"/>
          <p:cNvSpPr/>
          <p:nvPr/>
        </p:nvSpPr>
        <p:spPr>
          <a:xfrm>
            <a:off x="1524000" y="4953000"/>
            <a:ext cx="4318000" cy="635000"/>
          </a:xfrm>
          <a:prstGeom prst="rect">
            <a:avLst/>
          </a:prstGeom>
          <a:noFill/>
          <a:ln w="12700" cap="flat" cmpd="sng">
            <a:noFill/>
            <a:prstDash val="solid"/>
            <a:round/>
          </a:ln>
        </p:spPr>
        <p:txBody>
          <a:bodyPr vert="horz" wrap="square" lIns="0" tIns="0" rIns="0" bIns="0" rtlCol="0" anchor="ctr" anchorCtr="0"/>
          <a:lstStyle/>
          <a:p>
            <a:pPr>
              <a:defRPr/>
            </a:pPr>
            <a:r>
              <a:rPr lang="en-US" dirty="0">
                <a:solidFill>
                  <a:srgbClr val="FFFFFF">
                    <a:alpha val="90196"/>
                  </a:srgbClr>
                </a:solidFill>
                <a:latin typeface="Poppins"/>
                <a:ea typeface="Poppins"/>
                <a:cs typeface="Poppins"/>
                <a:sym typeface="Poppins"/>
              </a:rPr>
              <a:t>This speeds up treatments for Alzheimer’s, cancer, and superbugs. • It could save millions of lives.</a:t>
            </a:r>
            <a:endParaRPr lang="en-US" sz="1100" dirty="0"/>
          </a:p>
        </p:txBody>
      </p:sp>
      <p:pic>
        <p:nvPicPr>
          <p:cNvPr id="17" name="Picture 17"/>
          <p:cNvPicPr>
            <a:picLocks noChangeAspect="1"/>
          </p:cNvPicPr>
          <p:nvPr/>
        </p:nvPicPr>
        <p:blipFill>
          <a:blip r:embed="rId10"/>
          <a:srcRect/>
          <a:stretch>
            <a:fillRect/>
          </a:stretch>
        </p:blipFill>
        <p:spPr>
          <a:xfrm>
            <a:off x="7620000" y="2032000"/>
            <a:ext cx="3048000" cy="3048000"/>
          </a:xfrm>
          <a:prstGeom prst="roundRect">
            <a:avLst>
              <a:gd name="adj" fmla="val 8333"/>
            </a:avLst>
          </a:prstGeom>
          <a:noFill/>
          <a:ln w="25400" cap="flat" cmpd="sng">
            <a:solidFill>
              <a:srgbClr val="1E90FF">
                <a:alpha val="50000"/>
              </a:srgbClr>
            </a:solidFill>
            <a:prstDash val="solid"/>
            <a:round/>
          </a:ln>
          <a:effectLst>
            <a:outerShdw blurRad="254000" dist="127000" dir="5400000" algn="tl" rotWithShape="0">
              <a:srgbClr val="000000">
                <a:alpha val="50000"/>
              </a:srgbClr>
            </a:outerShdw>
          </a:effectLst>
        </p:spPr>
      </p:pic>
      <p:sp>
        <p:nvSpPr>
          <p:cNvPr id="18" name="AutoShape 18"/>
          <p:cNvSpPr/>
          <p:nvPr/>
        </p:nvSpPr>
        <p:spPr>
          <a:xfrm>
            <a:off x="7620000" y="5207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alpha val="60000"/>
                  </a:srgbClr>
                </a:solidFill>
                <a:latin typeface="Poppins"/>
                <a:ea typeface="Poppins"/>
                <a:cs typeface="Poppins"/>
                <a:sym typeface="Poppins"/>
              </a:rPr>
              <a:t>Molecular Simulation Visualization</a:t>
            </a:r>
            <a:endParaRPr lang="en-US" sz="1100"/>
          </a:p>
        </p:txBody>
      </p:sp>
      <p:sp>
        <p:nvSpPr>
          <p:cNvPr id="19" name="Rectangle 1">
            <a:extLst>
              <a:ext uri="{FF2B5EF4-FFF2-40B4-BE49-F238E27FC236}">
                <a16:creationId xmlns:a16="http://schemas.microsoft.com/office/drawing/2014/main" id="{BBAEBAC1-BD2A-04C8-D064-FD112AD4FA7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200" b="0" i="0" u="none" strike="noStrike" cap="none" normalizeH="0" baseline="0">
              <a:ln>
                <a:noFill/>
              </a:ln>
              <a:solidFill>
                <a:schemeClr val="tx1"/>
              </a:solidFill>
              <a:effectLst/>
              <a:latin typeface="Arial" panose="020B0604020202020204" pitchFamily="34" charset="0"/>
              <a:ea typeface="ui-sans-serif"/>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a:ln>
                  <a:noFill/>
                </a:ln>
                <a:solidFill>
                  <a:schemeClr val="tx1"/>
                </a:solidFill>
                <a:effectLst/>
                <a:latin typeface="Arial" panose="020B0604020202020204" pitchFamily="34" charset="0"/>
                <a:ea typeface="ui-sans-serif"/>
              </a:rPr>
              <a:t>Making new drugs means simulating how molecules work together.</a:t>
            </a:r>
            <a:r>
              <a:rPr kumimoji="0" lang="zh-CN" altLang="zh-CN" sz="600" b="0" i="0" u="none" strike="noStrike" cap="none" normalizeH="0" baseline="0">
                <a:ln>
                  <a:noFill/>
                </a:ln>
                <a:solidFill>
                  <a:schemeClr val="tx1"/>
                </a:solidFill>
                <a:effectLst/>
                <a:latin typeface="Arial" panose="020B0604020202020204" pitchFamily="34" charset="0"/>
              </a:rPr>
              <a:t> </a:t>
            </a:r>
            <a:endParaRPr kumimoji="0" lang="zh-CN" altLang="zh-CN" sz="1200" b="0" i="0" u="none" strike="noStrike" cap="none" normalizeH="0" baseline="0">
              <a:ln>
                <a:noFill/>
              </a:ln>
              <a:solidFill>
                <a:schemeClr val="tx1"/>
              </a:solidFill>
              <a:effectLst/>
              <a:latin typeface="Arial" panose="020B0604020202020204" pitchFamily="34" charset="0"/>
              <a:ea typeface="ui-sans-serif"/>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a:ln>
                  <a:noFill/>
                </a:ln>
                <a:solidFill>
                  <a:schemeClr val="tx1"/>
                </a:solidFill>
                <a:effectLst/>
                <a:latin typeface="Arial" panose="020B0604020202020204" pitchFamily="34" charset="0"/>
                <a:ea typeface="ui-sans-serif"/>
              </a:rPr>
              <a:t>Classical computers are too slow—this can take </a:t>
            </a:r>
            <a:r>
              <a:rPr kumimoji="0" lang="zh-CN" altLang="zh-CN" sz="1200" b="0" i="1" u="none" strike="noStrike" cap="none" normalizeH="0" baseline="0">
                <a:ln>
                  <a:noFill/>
                </a:ln>
                <a:solidFill>
                  <a:schemeClr val="tx1"/>
                </a:solidFill>
                <a:effectLst/>
                <a:latin typeface="Arial" panose="020B0604020202020204" pitchFamily="34" charset="0"/>
                <a:ea typeface="ui-sans-serif"/>
              </a:rPr>
              <a:t>years</a:t>
            </a:r>
            <a:r>
              <a:rPr kumimoji="0" lang="zh-CN" altLang="zh-CN" sz="1200" b="0" i="0" u="none" strike="noStrike" cap="none" normalizeH="0" baseline="0">
                <a:ln>
                  <a:noFill/>
                </a:ln>
                <a:solidFill>
                  <a:schemeClr val="tx1"/>
                </a:solidFill>
                <a:effectLst/>
                <a:latin typeface="Arial" panose="020B0604020202020204" pitchFamily="34" charset="0"/>
                <a:ea typeface="ui-sans-serif"/>
              </a:rPr>
              <a:t>.</a:t>
            </a:r>
            <a:r>
              <a:rPr kumimoji="0" lang="zh-CN" altLang="zh-CN" sz="600" b="0" i="0" u="none" strike="noStrike" cap="none" normalizeH="0" baseline="0">
                <a:ln>
                  <a:noFill/>
                </a:ln>
                <a:solidFill>
                  <a:schemeClr val="tx1"/>
                </a:solidFill>
                <a:effectLst/>
                <a:latin typeface="Arial" panose="020B0604020202020204" pitchFamily="34" charset="0"/>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0" name="Rectangle 2">
            <a:extLst>
              <a:ext uri="{FF2B5EF4-FFF2-40B4-BE49-F238E27FC236}">
                <a16:creationId xmlns:a16="http://schemas.microsoft.com/office/drawing/2014/main" id="{EA267B39-0562-F0AA-83AC-42F134725E7A}"/>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200" b="0" i="0" u="none" strike="noStrike" cap="none" normalizeH="0" baseline="0">
              <a:ln>
                <a:noFill/>
              </a:ln>
              <a:solidFill>
                <a:schemeClr val="tx1"/>
              </a:solidFill>
              <a:effectLst/>
              <a:latin typeface="Arial" panose="020B0604020202020204" pitchFamily="34" charset="0"/>
              <a:ea typeface="ui-sans-serif"/>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a:ln>
                  <a:noFill/>
                </a:ln>
                <a:solidFill>
                  <a:schemeClr val="tx1"/>
                </a:solidFill>
                <a:effectLst/>
                <a:latin typeface="Arial" panose="020B0604020202020204" pitchFamily="34" charset="0"/>
                <a:ea typeface="ui-sans-serif"/>
              </a:rPr>
              <a:t>This speeds up treatments for Alzheimer’s, cancer, and superbugs.</a:t>
            </a:r>
            <a:r>
              <a:rPr kumimoji="0" lang="zh-CN" altLang="zh-CN" sz="600" b="0" i="0" u="none" strike="noStrike" cap="none" normalizeH="0" baseline="0">
                <a:ln>
                  <a:noFill/>
                </a:ln>
                <a:solidFill>
                  <a:schemeClr val="tx1"/>
                </a:solidFill>
                <a:effectLst/>
                <a:latin typeface="Arial" panose="020B0604020202020204" pitchFamily="34" charset="0"/>
              </a:rPr>
              <a:t> </a:t>
            </a:r>
            <a:endParaRPr kumimoji="0" lang="zh-CN" altLang="zh-CN" sz="1200" b="0" i="0" u="none" strike="noStrike" cap="none" normalizeH="0" baseline="0">
              <a:ln>
                <a:noFill/>
              </a:ln>
              <a:solidFill>
                <a:schemeClr val="tx1"/>
              </a:solidFill>
              <a:effectLst/>
              <a:latin typeface="Arial" panose="020B0604020202020204" pitchFamily="34" charset="0"/>
              <a:ea typeface="ui-sans-serif"/>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a:ln>
                  <a:noFill/>
                </a:ln>
                <a:solidFill>
                  <a:schemeClr val="tx1"/>
                </a:solidFill>
                <a:effectLst/>
                <a:latin typeface="Arial" panose="020B0604020202020204" pitchFamily="34" charset="0"/>
                <a:ea typeface="ui-sans-serif"/>
              </a:rPr>
              <a:t>It could save millions of lives.</a:t>
            </a:r>
            <a:r>
              <a:rPr kumimoji="0" lang="zh-CN" altLang="zh-CN" sz="600" b="0" i="0" u="none" strike="noStrike" cap="none" normalizeH="0" baseline="0">
                <a:ln>
                  <a:noFill/>
                </a:ln>
                <a:solidFill>
                  <a:schemeClr val="tx1"/>
                </a:solidFill>
                <a:effectLst/>
                <a:latin typeface="Arial" panose="020B0604020202020204" pitchFamily="34" charset="0"/>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B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D1B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FFFFFF"/>
                </a:solidFill>
                <a:latin typeface="Poppins"/>
                <a:ea typeface="Poppins"/>
                <a:cs typeface="Poppins"/>
                <a:sym typeface="Poppins"/>
              </a:rPr>
              <a:t>Deeper Ethical Challenges</a:t>
            </a:r>
            <a:endParaRPr lang="en-US" sz="1100" dirty="0"/>
          </a:p>
        </p:txBody>
      </p:sp>
      <p:sp>
        <p:nvSpPr>
          <p:cNvPr id="5" name="AutoShape 5"/>
          <p:cNvSpPr/>
          <p:nvPr/>
        </p:nvSpPr>
        <p:spPr>
          <a:xfrm>
            <a:off x="762000" y="1524000"/>
            <a:ext cx="3302000" cy="3556000"/>
          </a:xfrm>
          <a:prstGeom prst="roundRect">
            <a:avLst>
              <a:gd name="adj" fmla="val 3846"/>
            </a:avLst>
          </a:prstGeom>
          <a:solidFill>
            <a:srgbClr val="FFFFFF">
              <a:alpha val="5000"/>
            </a:srgbClr>
          </a:solidFill>
          <a:ln w="12700" cap="flat" cmpd="sng">
            <a:solidFill>
              <a:srgbClr val="1E90FF">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09800" y="1778000"/>
            <a:ext cx="406400" cy="406400"/>
          </a:xfrm>
          <a:prstGeom prst="rect">
            <a:avLst/>
          </a:prstGeom>
        </p:spPr>
      </p:pic>
      <p:sp>
        <p:nvSpPr>
          <p:cNvPr id="7" name="AutoShape 7"/>
          <p:cNvSpPr/>
          <p:nvPr/>
        </p:nvSpPr>
        <p:spPr>
          <a:xfrm>
            <a:off x="889000" y="2286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dirty="0">
                <a:solidFill>
                  <a:srgbClr val="FFFFFF"/>
                </a:solidFill>
                <a:latin typeface="Poppins"/>
                <a:ea typeface="Poppins"/>
                <a:cs typeface="Poppins"/>
                <a:sym typeface="Poppins"/>
              </a:rPr>
              <a:t>Geopolitical Competition</a:t>
            </a:r>
            <a:endParaRPr lang="en-US" sz="1100" dirty="0"/>
          </a:p>
        </p:txBody>
      </p:sp>
      <p:sp>
        <p:nvSpPr>
          <p:cNvPr id="8" name="AutoShape 8"/>
          <p:cNvSpPr/>
          <p:nvPr/>
        </p:nvSpPr>
        <p:spPr>
          <a:xfrm>
            <a:off x="889000" y="2794000"/>
            <a:ext cx="3048000" cy="1905000"/>
          </a:xfrm>
          <a:prstGeom prst="rect">
            <a:avLst/>
          </a:prstGeom>
          <a:noFill/>
          <a:ln w="12700" cap="flat" cmpd="sng">
            <a:noFill/>
            <a:prstDash val="solid"/>
            <a:round/>
          </a:ln>
        </p:spPr>
        <p:txBody>
          <a:bodyPr vert="horz" wrap="square" lIns="0" tIns="0" rIns="0" bIns="0" rtlCol="0" anchor="ctr" anchorCtr="0"/>
          <a:lstStyle/>
          <a:p>
            <a:pPr indent="0" algn="just">
              <a:lnSpc>
                <a:spcPct val="108333"/>
              </a:lnSpc>
              <a:defRPr/>
            </a:pPr>
            <a:r>
              <a:rPr lang="en-US" altLang="zh-CN" dirty="0">
                <a:solidFill>
                  <a:schemeClr val="bg1"/>
                </a:solidFill>
              </a:rPr>
              <a:t>Countries are racing to build quantum tech. • This could spark a new arms race or let one nation dominate, making global security less stable.</a:t>
            </a:r>
            <a:endParaRPr lang="en-US" dirty="0">
              <a:solidFill>
                <a:schemeClr val="bg1"/>
              </a:solidFill>
            </a:endParaRPr>
          </a:p>
        </p:txBody>
      </p:sp>
      <p:sp>
        <p:nvSpPr>
          <p:cNvPr id="9" name="AutoShape 9"/>
          <p:cNvSpPr/>
          <p:nvPr/>
        </p:nvSpPr>
        <p:spPr>
          <a:xfrm>
            <a:off x="4445000" y="1524000"/>
            <a:ext cx="3302000" cy="3556000"/>
          </a:xfrm>
          <a:prstGeom prst="roundRect">
            <a:avLst>
              <a:gd name="adj" fmla="val 3846"/>
            </a:avLst>
          </a:prstGeom>
          <a:solidFill>
            <a:srgbClr val="FFFFFF">
              <a:alpha val="5000"/>
            </a:srgbClr>
          </a:solidFill>
          <a:ln w="12700" cap="flat" cmpd="sng">
            <a:solidFill>
              <a:srgbClr val="1E90FF">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892800" y="1778000"/>
            <a:ext cx="406400" cy="406400"/>
          </a:xfrm>
          <a:prstGeom prst="rect">
            <a:avLst/>
          </a:prstGeom>
        </p:spPr>
      </p:pic>
      <p:sp>
        <p:nvSpPr>
          <p:cNvPr id="11" name="AutoShape 11"/>
          <p:cNvSpPr/>
          <p:nvPr/>
        </p:nvSpPr>
        <p:spPr>
          <a:xfrm>
            <a:off x="4572000" y="2286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FFFFFF"/>
                </a:solidFill>
                <a:latin typeface="Poppins"/>
                <a:ea typeface="Poppins"/>
                <a:cs typeface="Poppins"/>
                <a:sym typeface="Poppins"/>
              </a:rPr>
              <a:t>Job Displacement</a:t>
            </a:r>
            <a:endParaRPr lang="en-US" sz="1100"/>
          </a:p>
        </p:txBody>
      </p:sp>
      <p:sp>
        <p:nvSpPr>
          <p:cNvPr id="12" name="AutoShape 12"/>
          <p:cNvSpPr/>
          <p:nvPr/>
        </p:nvSpPr>
        <p:spPr>
          <a:xfrm>
            <a:off x="4572000" y="2794000"/>
            <a:ext cx="3048000" cy="1905000"/>
          </a:xfrm>
          <a:prstGeom prst="rect">
            <a:avLst/>
          </a:prstGeom>
          <a:noFill/>
          <a:ln w="12700" cap="flat" cmpd="sng">
            <a:noFill/>
            <a:prstDash val="solid"/>
            <a:round/>
          </a:ln>
        </p:spPr>
        <p:txBody>
          <a:bodyPr vert="horz" wrap="square" lIns="0" tIns="0" rIns="0" bIns="0" rtlCol="0" anchor="ctr" anchorCtr="0"/>
          <a:lstStyle/>
          <a:p>
            <a:pPr indent="0" algn="just">
              <a:lnSpc>
                <a:spcPct val="108333"/>
              </a:lnSpc>
              <a:defRPr/>
            </a:pPr>
            <a:r>
              <a:rPr lang="en-US" altLang="zh-CN" dirty="0">
                <a:solidFill>
                  <a:schemeClr val="bg1"/>
                </a:solidFill>
              </a:rPr>
              <a:t>Quantum computers will automate work now done by humans. • Many jobs in finance, logistics, and software development could be lost.</a:t>
            </a:r>
            <a:endParaRPr lang="en-US" dirty="0">
              <a:solidFill>
                <a:schemeClr val="bg1"/>
              </a:solidFill>
            </a:endParaRPr>
          </a:p>
        </p:txBody>
      </p:sp>
      <p:sp>
        <p:nvSpPr>
          <p:cNvPr id="13" name="AutoShape 13"/>
          <p:cNvSpPr/>
          <p:nvPr/>
        </p:nvSpPr>
        <p:spPr>
          <a:xfrm>
            <a:off x="8128000" y="1524000"/>
            <a:ext cx="3302000" cy="3556000"/>
          </a:xfrm>
          <a:prstGeom prst="roundRect">
            <a:avLst>
              <a:gd name="adj" fmla="val 3846"/>
            </a:avLst>
          </a:prstGeom>
          <a:solidFill>
            <a:srgbClr val="FFFFFF">
              <a:alpha val="5000"/>
            </a:srgbClr>
          </a:solidFill>
          <a:ln w="12700" cap="flat" cmpd="sng">
            <a:solidFill>
              <a:srgbClr val="1E90FF">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75800" y="1778000"/>
            <a:ext cx="406400" cy="406400"/>
          </a:xfrm>
          <a:prstGeom prst="rect">
            <a:avLst/>
          </a:prstGeom>
        </p:spPr>
      </p:pic>
      <p:sp>
        <p:nvSpPr>
          <p:cNvPr id="15" name="AutoShape 15"/>
          <p:cNvSpPr/>
          <p:nvPr/>
        </p:nvSpPr>
        <p:spPr>
          <a:xfrm>
            <a:off x="8197893" y="2276795"/>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altLang="zh-CN" sz="1800" dirty="0">
                <a:solidFill>
                  <a:schemeClr val="bg1"/>
                </a:solidFill>
              </a:rPr>
              <a:t>False information and controlling people</a:t>
            </a:r>
            <a:endParaRPr lang="en-US" sz="1100" dirty="0">
              <a:solidFill>
                <a:schemeClr val="bg1"/>
              </a:solidFill>
            </a:endParaRPr>
          </a:p>
        </p:txBody>
      </p:sp>
      <p:sp>
        <p:nvSpPr>
          <p:cNvPr id="16" name="AutoShape 16"/>
          <p:cNvSpPr/>
          <p:nvPr/>
        </p:nvSpPr>
        <p:spPr>
          <a:xfrm>
            <a:off x="8255000" y="2794000"/>
            <a:ext cx="3048000" cy="1905000"/>
          </a:xfrm>
          <a:prstGeom prst="rect">
            <a:avLst/>
          </a:prstGeom>
          <a:noFill/>
          <a:ln w="12700" cap="flat" cmpd="sng">
            <a:noFill/>
            <a:prstDash val="solid"/>
            <a:round/>
          </a:ln>
        </p:spPr>
        <p:txBody>
          <a:bodyPr vert="horz" wrap="square" lIns="0" tIns="0" rIns="0" bIns="0" rtlCol="0" anchor="ctr" anchorCtr="0"/>
          <a:lstStyle/>
          <a:p>
            <a:pPr indent="0" algn="just">
              <a:lnSpc>
                <a:spcPct val="108333"/>
              </a:lnSpc>
              <a:defRPr/>
            </a:pPr>
            <a:r>
              <a:rPr lang="en-US" altLang="zh-CN" dirty="0">
                <a:solidFill>
                  <a:schemeClr val="bg1"/>
                </a:solidFill>
              </a:rPr>
              <a:t>Quantum AI can make hyper-realistic fake videos and false information at a huge scale. </a:t>
            </a:r>
            <a:r>
              <a:rPr lang="en-US" altLang="zh-CN">
                <a:solidFill>
                  <a:schemeClr val="bg1"/>
                </a:solidFill>
              </a:rPr>
              <a:t>• This threatens democracy and social stability.</a:t>
            </a:r>
            <a:endParaRPr lang="en-US" dirty="0">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1B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D1B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2032000"/>
            <a:ext cx="121920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4800" b="1" i="0" u="none" strike="noStrike">
                <a:solidFill>
                  <a:srgbClr val="FFFFFF"/>
                </a:solidFill>
                <a:latin typeface="Noto Sans SC"/>
                <a:ea typeface="Noto Sans SC"/>
                <a:cs typeface="Noto Sans SC"/>
                <a:sym typeface="Noto Sans SC"/>
              </a:rPr>
              <a:t>Thank You</a:t>
            </a:r>
            <a:endParaRPr lang="en-US" sz="1100"/>
          </a:p>
        </p:txBody>
      </p:sp>
      <p:sp>
        <p:nvSpPr>
          <p:cNvPr id="5" name="AutoShape 5"/>
          <p:cNvSpPr/>
          <p:nvPr/>
        </p:nvSpPr>
        <p:spPr>
          <a:xfrm>
            <a:off x="5588000" y="2984500"/>
            <a:ext cx="1016000" cy="50800"/>
          </a:xfrm>
          <a:prstGeom prst="roundRect">
            <a:avLst>
              <a:gd name="adj" fmla="val 0"/>
            </a:avLst>
          </a:prstGeom>
          <a:solidFill>
            <a:srgbClr val="1E90FF">
              <a:alpha val="100000"/>
            </a:srgbClr>
          </a:solidFill>
          <a:ln cap="flat" cmpd="sng">
            <a:solidFill>
              <a:srgbClr val="0476E6">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0" y="3302000"/>
            <a:ext cx="121920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400" b="0" i="0" u="none" strike="noStrike">
                <a:solidFill>
                  <a:srgbClr val="FFFFFF">
                    <a:alpha val="90196"/>
                  </a:srgbClr>
                </a:solidFill>
                <a:latin typeface="Noto Sans SC"/>
                <a:ea typeface="Noto Sans SC"/>
                <a:cs typeface="Noto Sans SC"/>
                <a:sym typeface="Noto Sans SC"/>
              </a:rPr>
              <a:t>Any Questions?</a:t>
            </a:r>
            <a:endParaRPr lang="en-US" sz="1100"/>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92800" y="4191000"/>
            <a:ext cx="406400" cy="406400"/>
          </a:xfrm>
          <a:prstGeom prst="rect">
            <a:avLst/>
          </a:prstGeom>
        </p:spPr>
      </p:pic>
      <p:pic>
        <p:nvPicPr>
          <p:cNvPr id="8" name="Picture 8"/>
          <p:cNvPicPr>
            <a:picLocks noChangeAspect="1"/>
          </p:cNvPicPr>
          <p:nvPr/>
        </p:nvPicPr>
        <p:blipFill>
          <a:blip r:embed="rId6"/>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TotalTime>
  <Words>1541</Words>
  <Application>Microsoft Office PowerPoint</Application>
  <PresentationFormat>宽屏</PresentationFormat>
  <Paragraphs>126</Paragraphs>
  <Slides>11</Slides>
  <Notes>11</Notes>
  <HiddenSlides>0</HiddenSlides>
  <MMClips>0</MMClips>
  <ScaleCrop>false</ScaleCrop>
  <HeadingPairs>
    <vt:vector size="6" baseType="variant">
      <vt:variant>
        <vt:lpstr>已用的字体</vt:lpstr>
      </vt:variant>
      <vt:variant>
        <vt:i4>3</vt:i4>
      </vt:variant>
      <vt:variant>
        <vt:lpstr>主题</vt:lpstr>
      </vt:variant>
      <vt:variant>
        <vt:i4>2</vt:i4>
      </vt:variant>
      <vt:variant>
        <vt:lpstr>幻灯片标题</vt:lpstr>
      </vt:variant>
      <vt:variant>
        <vt:i4>11</vt:i4>
      </vt:variant>
    </vt:vector>
  </HeadingPairs>
  <TitlesOfParts>
    <vt:vector size="16" baseType="lpstr">
      <vt:lpstr>Noto Sans SC</vt:lpstr>
      <vt:lpstr>Arial</vt:lpstr>
      <vt:lpstr>Poppins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lx</dc:creator>
  <cp:lastModifiedBy>羡游 杨</cp:lastModifiedBy>
  <cp:revision>4</cp:revision>
  <dcterms:modified xsi:type="dcterms:W3CDTF">2026-03-27T16:27:32Z</dcterms:modified>
</cp:coreProperties>
</file>